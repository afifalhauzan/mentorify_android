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52"/>
  </p:notesMasterIdLst>
  <p:handoutMasterIdLst>
    <p:handoutMasterId r:id="rId53"/>
  </p:handoutMasterIdLst>
  <p:sldIdLst>
    <p:sldId id="256" r:id="rId2"/>
    <p:sldId id="507" r:id="rId3"/>
    <p:sldId id="508" r:id="rId4"/>
    <p:sldId id="509" r:id="rId5"/>
    <p:sldId id="510" r:id="rId6"/>
    <p:sldId id="511" r:id="rId7"/>
    <p:sldId id="512" r:id="rId8"/>
    <p:sldId id="513" r:id="rId9"/>
    <p:sldId id="514" r:id="rId10"/>
    <p:sldId id="515" r:id="rId11"/>
    <p:sldId id="549" r:id="rId12"/>
    <p:sldId id="516" r:id="rId13"/>
    <p:sldId id="518" r:id="rId14"/>
    <p:sldId id="519" r:id="rId15"/>
    <p:sldId id="547" r:id="rId16"/>
    <p:sldId id="548" r:id="rId17"/>
    <p:sldId id="485" r:id="rId18"/>
    <p:sldId id="486" r:id="rId19"/>
    <p:sldId id="487" r:id="rId20"/>
    <p:sldId id="517" r:id="rId21"/>
    <p:sldId id="520" r:id="rId22"/>
    <p:sldId id="521" r:id="rId23"/>
    <p:sldId id="523" r:id="rId24"/>
    <p:sldId id="524" r:id="rId25"/>
    <p:sldId id="525" r:id="rId26"/>
    <p:sldId id="526" r:id="rId27"/>
    <p:sldId id="527" r:id="rId28"/>
    <p:sldId id="528" r:id="rId29"/>
    <p:sldId id="529" r:id="rId30"/>
    <p:sldId id="530" r:id="rId31"/>
    <p:sldId id="531" r:id="rId32"/>
    <p:sldId id="532" r:id="rId33"/>
    <p:sldId id="534" r:id="rId34"/>
    <p:sldId id="535" r:id="rId35"/>
    <p:sldId id="533" r:id="rId36"/>
    <p:sldId id="536" r:id="rId37"/>
    <p:sldId id="545" r:id="rId38"/>
    <p:sldId id="537" r:id="rId39"/>
    <p:sldId id="538" r:id="rId40"/>
    <p:sldId id="539" r:id="rId41"/>
    <p:sldId id="540" r:id="rId42"/>
    <p:sldId id="541" r:id="rId43"/>
    <p:sldId id="542" r:id="rId44"/>
    <p:sldId id="544" r:id="rId45"/>
    <p:sldId id="543" r:id="rId46"/>
    <p:sldId id="546" r:id="rId47"/>
    <p:sldId id="457" r:id="rId48"/>
    <p:sldId id="504" r:id="rId49"/>
    <p:sldId id="505" r:id="rId50"/>
    <p:sldId id="506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93" autoAdjust="0"/>
    <p:restoredTop sz="90076"/>
  </p:normalViewPr>
  <p:slideViewPr>
    <p:cSldViewPr snapToGrid="0">
      <p:cViewPr varScale="1">
        <p:scale>
          <a:sx n="96" d="100"/>
          <a:sy n="96" d="100"/>
        </p:scale>
        <p:origin x="192" y="680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notesViewPr>
    <p:cSldViewPr snapToGrid="0">
      <p:cViewPr varScale="1">
        <p:scale>
          <a:sx n="137" d="100"/>
          <a:sy n="137" d="100"/>
        </p:scale>
        <p:origin x="116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EF0103-1A84-E6A7-DEC3-4A5758606C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B3E48C-F8F4-BA8E-F332-34EBA1B91B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B24EB-D498-9246-8513-1081E996316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BF1767-47CC-C3CE-617D-F5C706C73F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CEC1D-5A57-53B5-6CF1-576AA3D2E2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58306-8747-834C-9B49-F1FE1D2A2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1956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EEF3B-0D8C-47E6-9DFD-F6C02965DB54}" type="datetimeFigureOut">
              <a:rPr lang="en-ID" smtClean="0"/>
              <a:t>29/10/25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ECDFE-3643-47FA-A7E4-0E34E76624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7779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7945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6870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/>
              <a:t>These declarations are equivalent, and are provided as syntax sugar for different uses of state. You should pick the one that produces the easiest-to-read code in the composable you're writing.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9531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2553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4740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4494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17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0805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E98F-AE25-FFFC-E6A8-23014A9F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0F5E7-4907-2E4E-5C08-C0D25ED99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E2FF2-15E1-C614-AFD2-43100D02B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that is hoisted this way has some important properties:</a:t>
            </a:r>
          </a:p>
          <a:p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source of truth: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By moving state instead of duplicating it, we're ensuring there's only one source of truth. This helps avoid bugs.</a:t>
            </a:r>
          </a:p>
          <a:p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Encapsulated: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Only stateful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composables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modify their state. It's completely internal.</a:t>
            </a:r>
          </a:p>
          <a:p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Shareable: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Hoisted state can be shared with multiple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composables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If you wanted to read name in a different composable, hoisting would allow you to do that.</a:t>
            </a:r>
          </a:p>
          <a:p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Interceptable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callers to the stateless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composables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decide to ignore or modify events before changing the state.</a:t>
            </a:r>
          </a:p>
          <a:p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Decoupled: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state for the stateless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composables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may be stored anywhere. For example, it's now possible to move name into a ViewModel.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A311F-03E6-78F7-5C9A-4F67217B6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8499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19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2483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338B7-46D5-D7E0-CA2D-71E87FFE5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BFDBB-011D-B1F8-244F-EC3B2966A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D459E-5249-97EA-C073-1EE217B69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510FB-8035-30A0-514B-A5DB9FF9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20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5407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22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3296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3D33B-6EA3-DC83-2511-84F9E4F6B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20C89-020B-00E3-15ED-6DC648756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BD101-BCC3-B484-FB33-F39933E53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BA9FF-B172-69FB-D1F9-41C25EC70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23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5611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24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563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5295C-62CD-025F-07F4-E66946E60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37F21-12A5-3D99-7C92-A2CE36651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EAF1E3-8F39-3D6F-CB47-D9352BF41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1BEEE-46ED-F518-8393-464D66294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25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0640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6C576-A9B7-2144-4F75-327525325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2281A-606D-8941-0184-17D45E3DC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B5BF7-42B1-FB3B-6EF2-3D494ABE1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B6599-4005-BC08-2A28-9023BB22D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26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35725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43C89-41DB-D1F7-1072-ECF463B6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FAD48-5D08-8B13-8AF1-4C131AC55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28306-AC7C-C963-FA85-312521525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E1B2C-529B-6CCC-4028-37C5901FC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27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4924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0A3D6-13D7-1202-0C93-7A0F0C298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C9AE2-C08B-7BCF-A947-1A9A43D5A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19874-B2CF-C480-2CCE-FF1C777E8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C6451-FBD1-A33B-BB84-C4E8C9710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28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9375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49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2309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C4AE7-E656-B969-0E65-3E00138F1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4DF4F-913D-2557-E02F-18854C3C5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A6363-223E-C067-CD21-F9C7E01C2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99548-BA4C-9BEB-456D-2F200FD1B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ECDFE-3643-47FA-A7E4-0E34E7662444}" type="slidenum">
              <a:rPr lang="en-ID" smtClean="0"/>
              <a:t>50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77013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400" b="1" spc="-150" baseline="0">
                <a:latin typeface="Source Sans 3" panose="020B03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5450541"/>
            <a:ext cx="7886700" cy="639110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EF3D7-A51A-C89E-5296-BEB163228C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126" y="4567006"/>
            <a:ext cx="7896225" cy="8874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b="0" i="0" dirty="0">
                <a:solidFill>
                  <a:schemeClr val="accent2">
                    <a:lumMod val="50000"/>
                  </a:schemeClr>
                </a:solidFill>
                <a:latin typeface="+mj-lt"/>
                <a:ea typeface="Noto Sans Condensed Condensed" panose="020B0502040504020204" pitchFamily="34" charset="0"/>
                <a:cs typeface="Noto Sans Condensed Condensed" panose="020B0502040504020204" pitchFamily="34" charset="0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863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0" i="0">
                <a:solidFill>
                  <a:schemeClr val="accent5">
                    <a:lumMod val="75000"/>
                  </a:schemeClr>
                </a:solidFill>
                <a:latin typeface="Noto Sans Condensed Medium Cond" panose="020B0502040504020204" pitchFamily="34" charset="0"/>
                <a:ea typeface="Noto Sans Condensed Medium Cond" panose="020B0502040504020204" pitchFamily="34" charset="0"/>
                <a:cs typeface="Noto Sans Condensed Medium Cond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228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4667249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509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 i="0">
                <a:solidFill>
                  <a:schemeClr val="accent2">
                    <a:lumMod val="50000"/>
                  </a:schemeClr>
                </a:solidFill>
                <a:latin typeface="Noto Sans Condensed Medium Condensed" panose="020B050204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6"/>
            <a:ext cx="3868340" cy="398779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1" y="1681163"/>
            <a:ext cx="3887391" cy="8239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 i="0">
                <a:solidFill>
                  <a:schemeClr val="accent2">
                    <a:lumMod val="50000"/>
                  </a:schemeClr>
                </a:solidFill>
                <a:latin typeface="Noto Sans Condensed Medium Condensed" panose="020B050204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6"/>
            <a:ext cx="3887391" cy="3987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57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04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47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60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5462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5450541"/>
            <a:ext cx="7886700" cy="639110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EF3D7-A51A-C89E-5296-BEB163228C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125" y="4567004"/>
            <a:ext cx="7896225" cy="8874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>
                <a:solidFill>
                  <a:schemeClr val="accent2">
                    <a:lumMod val="50000"/>
                  </a:schemeClr>
                </a:solidFill>
                <a:latin typeface="Fira Sans Extra Condensed SemiB" panose="020B06030500000200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8507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5450541"/>
            <a:ext cx="7886700" cy="639110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EF3D7-A51A-C89E-5296-BEB163228C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125" y="4567004"/>
            <a:ext cx="7896225" cy="8874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>
                <a:solidFill>
                  <a:schemeClr val="accent2">
                    <a:lumMod val="50000"/>
                  </a:schemeClr>
                </a:solidFill>
                <a:latin typeface="Fira Sans Extra Condensed SemiB" panose="020B06030500000200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67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EBCD7-34D5-2A18-D43D-05139ADFAB77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21" t="-2" r="-638" b="10149"/>
          <a:stretch/>
        </p:blipFill>
        <p:spPr>
          <a:xfrm>
            <a:off x="7702463" y="106131"/>
            <a:ext cx="1152000" cy="324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FBCFC1-EC8C-4074-635B-87EEBE5F17FE}"/>
              </a:ext>
            </a:extLst>
          </p:cNvPr>
          <p:cNvSpPr/>
          <p:nvPr/>
        </p:nvSpPr>
        <p:spPr>
          <a:xfrm>
            <a:off x="9008270" y="0"/>
            <a:ext cx="135731" cy="292894"/>
          </a:xfrm>
          <a:prstGeom prst="rect">
            <a:avLst/>
          </a:prstGeom>
          <a:solidFill>
            <a:srgbClr val="178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 dirty="0">
              <a:latin typeface="Source Sans 3" panose="020B03030304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C3C19C-0A78-50FF-C1D8-BAABAAA3482C}"/>
              </a:ext>
            </a:extLst>
          </p:cNvPr>
          <p:cNvSpPr/>
          <p:nvPr/>
        </p:nvSpPr>
        <p:spPr>
          <a:xfrm>
            <a:off x="9013032" y="106131"/>
            <a:ext cx="135731" cy="470447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 dirty="0">
              <a:latin typeface="Source Sans 3" panose="020B0303030403020204" pitchFamily="34" charset="0"/>
            </a:endParaRPr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8829ACA5-21F2-9A9B-4DB7-4CCAAA23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27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673" r:id="rId10"/>
  </p:sldLayoutIdLst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i="0" kern="1200" spc="-150" baseline="0">
          <a:solidFill>
            <a:schemeClr val="accent5">
              <a:lumMod val="75000"/>
            </a:schemeClr>
          </a:solidFill>
          <a:latin typeface="+mj-lt"/>
          <a:ea typeface="Noto Sans Condensed Condensed" panose="020B0502040504020204" pitchFamily="34" charset="0"/>
          <a:cs typeface="Noto Sans Condensed Condensed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Source Sans 3" panose="020B03030304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Source Sans 3" panose="020B03030304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Source Sans 3" panose="020B03030304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ource Sans 3" panose="020B03030304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ource Sans 3" panose="020B03030304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kotlin/androidx/compose/runtime/package-summary#remember(kotlin.Function0)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develop/ui/compose/state#state-hoisting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jetpack/compos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hyperlink" Target="https://developer.android.com/topic/libraries/architecture/viewmode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.github.io/kotlinx.coroutines/kotlinx-coroutines-core/kotlinx.coroutines.flow/-state-flow/value.html" TargetMode="External"/><Relationship Id="rId2" Type="http://schemas.openxmlformats.org/officeDocument/2006/relationships/hyperlink" Target="https://kotlin.github.io/kotlinx.coroutines/kotlinx-coroutines-core/kotlinx.coroutines.flow/-state-flow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kotlin.github.io/kotlinx.coroutines/kotlinx-coroutines-core/kotlinx.coroutines.flow/-mutable-state-flow/index.html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9F2C33-E4F0-CF82-AAC7-F914F1F2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State, </a:t>
            </a:r>
            <a:r>
              <a:rPr lang="en-US" dirty="0" err="1"/>
              <a:t>rememberSaveable</a:t>
            </a:r>
            <a:r>
              <a:rPr lang="en-US" dirty="0"/>
              <a:t>, and ViewModel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84CCBF-2E41-FD8D-9B8F-0C2B34B20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Ir. Aryo Pinandito, Ph.D.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277B97-E212-B645-DAB7-998E862E13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Mobile Application Development</a:t>
            </a:r>
          </a:p>
        </p:txBody>
      </p:sp>
    </p:spTree>
    <p:extLst>
      <p:ext uri="{BB962C8B-B14F-4D97-AF65-F5344CB8AC3E}">
        <p14:creationId xmlns:p14="http://schemas.microsoft.com/office/powerpoint/2010/main" val="2450644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4441-D627-5EA1-3BFB-7416A3887C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59894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A4F7E6-AEF5-9678-64DD-7488C2E3D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898559-535D-A8C7-A1E7-539C1DA37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D" dirty="0"/>
              <a:t>State in an app is any value that can change over time, encompasses everything from a Room database to a variable in a class.</a:t>
            </a:r>
          </a:p>
          <a:p>
            <a:r>
              <a:rPr lang="en-ID" dirty="0"/>
              <a:t>All Android apps display state to the user, e.g.:</a:t>
            </a:r>
          </a:p>
          <a:p>
            <a:pPr lvl="1"/>
            <a:r>
              <a:rPr lang="en-ID" dirty="0"/>
              <a:t>A </a:t>
            </a:r>
            <a:r>
              <a:rPr lang="en-ID" dirty="0" err="1"/>
              <a:t>Snackbar</a:t>
            </a:r>
            <a:r>
              <a:rPr lang="en-ID" dirty="0"/>
              <a:t> that shows network connection status.</a:t>
            </a:r>
          </a:p>
          <a:p>
            <a:pPr lvl="1"/>
            <a:r>
              <a:rPr lang="en-ID" dirty="0"/>
              <a:t>A blog post and associated comments.</a:t>
            </a:r>
          </a:p>
          <a:p>
            <a:pPr lvl="1"/>
            <a:r>
              <a:rPr lang="en-ID" dirty="0"/>
              <a:t>Ripple animations that play when a user clicks.</a:t>
            </a:r>
          </a:p>
          <a:p>
            <a:pPr lvl="1"/>
            <a:r>
              <a:rPr lang="en-ID" dirty="0"/>
              <a:t>Stickers that a user can draw on top of an image.</a:t>
            </a:r>
          </a:p>
          <a:p>
            <a:r>
              <a:rPr lang="en-ID" dirty="0"/>
              <a:t>Jetpack Compose helps developers be explicit about where and how to  store and use state in an Android app.</a:t>
            </a:r>
          </a:p>
        </p:txBody>
      </p:sp>
    </p:spTree>
    <p:extLst>
      <p:ext uri="{BB962C8B-B14F-4D97-AF65-F5344CB8AC3E}">
        <p14:creationId xmlns:p14="http://schemas.microsoft.com/office/powerpoint/2010/main" val="242373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55EDD-810F-6FCE-1A4A-A132AEE6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and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EBE50-9544-6E2B-8F0E-78DF5454B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dirty="0"/>
              <a:t>Compose is declarative and as such the only way to update it is by calling the same composable with new arguments. </a:t>
            </a:r>
          </a:p>
          <a:p>
            <a:r>
              <a:rPr lang="en-US" sz="2800" dirty="0"/>
              <a:t>These arguments are representations of the UI state. </a:t>
            </a:r>
          </a:p>
          <a:p>
            <a:r>
              <a:rPr lang="en-US" sz="2800" dirty="0"/>
              <a:t>Any time a state is updated a </a:t>
            </a:r>
            <a:r>
              <a:rPr lang="en-US" sz="2800" dirty="0" err="1"/>
              <a:t>recomposition</a:t>
            </a:r>
            <a:r>
              <a:rPr lang="en-US" sz="2800" dirty="0"/>
              <a:t> takes place. </a:t>
            </a:r>
          </a:p>
          <a:p>
            <a:r>
              <a:rPr lang="en-US" sz="2800" dirty="0"/>
              <a:t>As a result, things like </a:t>
            </a:r>
            <a:r>
              <a:rPr lang="en-US" sz="2800" dirty="0" err="1"/>
              <a:t>TextField</a:t>
            </a:r>
            <a:r>
              <a:rPr lang="en-US" sz="2800" dirty="0"/>
              <a:t> don’t automatically update like they do in imperative XML based views. </a:t>
            </a:r>
          </a:p>
          <a:p>
            <a:r>
              <a:rPr lang="en-US" sz="2800" dirty="0"/>
              <a:t>A composable has to explicitly be told the new state in order for it to update accordingly.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3508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EE6FEAD-F67A-01ED-80D6-60F94BA677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612" y="427903"/>
            <a:ext cx="7409191" cy="60021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13076C-A4DB-B2B2-B669-C9B62D8D81E2}"/>
              </a:ext>
            </a:extLst>
          </p:cNvPr>
          <p:cNvSpPr txBox="1"/>
          <p:nvPr/>
        </p:nvSpPr>
        <p:spPr>
          <a:xfrm>
            <a:off x="4710546" y="4066079"/>
            <a:ext cx="40455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Try to enter text, nothing will happen. </a:t>
            </a:r>
          </a:p>
          <a:p>
            <a:endParaRPr lang="en-US" dirty="0"/>
          </a:p>
          <a:p>
            <a:r>
              <a:rPr lang="en-US" dirty="0" err="1"/>
              <a:t>TextField</a:t>
            </a:r>
            <a:r>
              <a:rPr lang="en-US" dirty="0"/>
              <a:t> doesn't update itself—it updates when its value parameter changes. </a:t>
            </a:r>
          </a:p>
          <a:p>
            <a:endParaRPr lang="en-US" dirty="0"/>
          </a:p>
          <a:p>
            <a:r>
              <a:rPr lang="en-US" dirty="0"/>
              <a:t>This is due to how composition and </a:t>
            </a:r>
            <a:r>
              <a:rPr lang="en-US" dirty="0" err="1"/>
              <a:t>recomposition</a:t>
            </a:r>
            <a:r>
              <a:rPr lang="en-US" dirty="0"/>
              <a:t> work in Compose.</a:t>
            </a:r>
          </a:p>
        </p:txBody>
      </p:sp>
    </p:spTree>
    <p:extLst>
      <p:ext uri="{BB962C8B-B14F-4D97-AF65-F5344CB8AC3E}">
        <p14:creationId xmlns:p14="http://schemas.microsoft.com/office/powerpoint/2010/main" val="4236318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4B8D6-2899-F63E-FCC5-0A140162B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in Composable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0023F-A7FA-F3C6-A682-1E63858AB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sz="2800" dirty="0"/>
              <a:t>Composable functions can use the </a:t>
            </a:r>
            <a:r>
              <a:rPr lang="en-ID" sz="2800" dirty="0">
                <a:hlinkClick r:id="rId3"/>
              </a:rPr>
              <a:t>remember</a:t>
            </a:r>
            <a:r>
              <a:rPr lang="en-ID" sz="2800" dirty="0"/>
              <a:t> API to store an object in memory. </a:t>
            </a:r>
          </a:p>
          <a:p>
            <a:r>
              <a:rPr lang="en-ID" sz="2800" dirty="0"/>
              <a:t>A value computed by remember is stored in the Composition during initial composition, and the stored value is returned during </a:t>
            </a:r>
            <a:r>
              <a:rPr lang="en-ID" sz="2800" dirty="0" err="1"/>
              <a:t>recomposition</a:t>
            </a:r>
            <a:r>
              <a:rPr lang="en-ID" sz="2800" dirty="0"/>
              <a:t>. </a:t>
            </a:r>
          </a:p>
          <a:p>
            <a:r>
              <a:rPr lang="en-ID" sz="2400" dirty="0">
                <a:solidFill>
                  <a:schemeClr val="accent5">
                    <a:lumMod val="75000"/>
                  </a:schemeClr>
                </a:solidFill>
                <a:latin typeface="Noto Sans Mono" panose="020B0509040504020204" pitchFamily="49" charset="0"/>
                <a:ea typeface="Noto Sans Mono" panose="020B0509040504020204" pitchFamily="49" charset="0"/>
                <a:cs typeface="Noto Sans Mono" panose="020B0509040504020204" pitchFamily="49" charset="0"/>
              </a:rPr>
              <a:t>remember</a:t>
            </a:r>
            <a:r>
              <a:rPr lang="en-ID" sz="2800" dirty="0"/>
              <a:t> can be used to store both mutable and immutable objects.</a:t>
            </a:r>
          </a:p>
          <a:p>
            <a:pPr lvl="1"/>
            <a:r>
              <a:rPr lang="en-ID" sz="2400" dirty="0">
                <a:solidFill>
                  <a:schemeClr val="accent5">
                    <a:lumMod val="75000"/>
                  </a:schemeClr>
                </a:solidFill>
                <a:latin typeface="Noto Sans Mono" panose="020B0509040504020204" pitchFamily="49" charset="0"/>
                <a:ea typeface="Noto Sans Mono" panose="020B0509040504020204" pitchFamily="49" charset="0"/>
                <a:cs typeface="Noto Sans Mono" panose="020B0509040504020204" pitchFamily="49" charset="0"/>
              </a:rPr>
              <a:t>remember</a:t>
            </a:r>
            <a:r>
              <a:rPr lang="en-ID" sz="2800" dirty="0"/>
              <a:t> stores objects in the Composition, and forgets the object when the composable that called</a:t>
            </a:r>
            <a:r>
              <a:rPr lang="en-ID" sz="2400" dirty="0"/>
              <a:t> </a:t>
            </a:r>
            <a:r>
              <a:rPr lang="en-ID" sz="2400" dirty="0">
                <a:solidFill>
                  <a:schemeClr val="accent5">
                    <a:lumMod val="75000"/>
                  </a:schemeClr>
                </a:solidFill>
                <a:latin typeface="Noto Sans Mono" panose="020B0509040504020204" pitchFamily="49" charset="0"/>
                <a:ea typeface="Noto Sans Mono" panose="020B0509040504020204" pitchFamily="49" charset="0"/>
                <a:cs typeface="Noto Sans Mono" panose="020B0509040504020204" pitchFamily="49" charset="0"/>
              </a:rPr>
              <a:t>remember</a:t>
            </a:r>
            <a:r>
              <a:rPr lang="en-ID" sz="2800" dirty="0"/>
              <a:t> is removed from the Composition.</a:t>
            </a:r>
            <a:br>
              <a:rPr lang="en-ID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6600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64541-D56C-F005-2CB0-D68CEBAC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MutableState</a:t>
            </a:r>
            <a:r>
              <a:rPr lang="en-US" dirty="0"/>
              <a:t>&lt;T&gt;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BE07E-F103-798F-61FD-8962AD984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Noto Sans Mono" panose="020B0509040504020204" pitchFamily="49" charset="0"/>
                <a:ea typeface="Noto Sans Mono" panose="020B0509040504020204" pitchFamily="49" charset="0"/>
                <a:cs typeface="Noto Sans Mono" panose="020B0509040504020204" pitchFamily="49" charset="0"/>
              </a:rPr>
              <a:t>mutableStateOf</a:t>
            </a:r>
            <a:r>
              <a:rPr lang="en-US" sz="2800" dirty="0"/>
              <a:t> creates an observable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Noto Sans Mono" panose="020B0509040504020204" pitchFamily="49" charset="0"/>
                <a:ea typeface="Noto Sans Mono" panose="020B0509040504020204" pitchFamily="49" charset="0"/>
                <a:cs typeface="Noto Sans Mono" panose="020B0509040504020204" pitchFamily="49" charset="0"/>
              </a:rPr>
              <a:t>MutableState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Noto Sans Mono" panose="020B0509040504020204" pitchFamily="49" charset="0"/>
                <a:ea typeface="Noto Sans Mono" panose="020B0509040504020204" pitchFamily="49" charset="0"/>
                <a:cs typeface="Noto Sans Mono" panose="020B0509040504020204" pitchFamily="49" charset="0"/>
              </a:rPr>
              <a:t>&lt;T&gt;</a:t>
            </a:r>
            <a:r>
              <a:rPr lang="en-US" sz="2800" dirty="0"/>
              <a:t>, which is an observable type integrated with the compose runtime.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6CF258-6160-3D2B-E813-8337C9763E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63" t="30346" b="8582"/>
          <a:stretch>
            <a:fillRect/>
          </a:stretch>
        </p:blipFill>
        <p:spPr>
          <a:xfrm>
            <a:off x="731519" y="3218688"/>
            <a:ext cx="7434311" cy="20738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436D5D-B4F1-9634-6EA6-B0B27916D9A4}"/>
              </a:ext>
            </a:extLst>
          </p:cNvPr>
          <p:cNvSpPr txBox="1"/>
          <p:nvPr/>
        </p:nvSpPr>
        <p:spPr>
          <a:xfrm>
            <a:off x="628650" y="5427483"/>
            <a:ext cx="78867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Any changes to value schedules </a:t>
            </a:r>
            <a:r>
              <a:rPr lang="en-US" sz="2800" dirty="0" err="1"/>
              <a:t>recomposition</a:t>
            </a:r>
            <a:r>
              <a:rPr lang="en-US" sz="2800" dirty="0"/>
              <a:t> of any composable functions that read value.</a:t>
            </a:r>
          </a:p>
        </p:txBody>
      </p:sp>
    </p:spTree>
    <p:extLst>
      <p:ext uri="{BB962C8B-B14F-4D97-AF65-F5344CB8AC3E}">
        <p14:creationId xmlns:p14="http://schemas.microsoft.com/office/powerpoint/2010/main" val="90026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F3CC-51F7-510E-1FC9-8B55FD419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Declare a </a:t>
            </a:r>
            <a:r>
              <a:rPr lang="en-ID" dirty="0" err="1"/>
              <a:t>MutableState</a:t>
            </a:r>
            <a:r>
              <a:rPr lang="en-ID" dirty="0"/>
              <a:t> object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A34198-3128-DFD5-05FC-912735EB4F52}"/>
              </a:ext>
            </a:extLst>
          </p:cNvPr>
          <p:cNvSpPr txBox="1"/>
          <p:nvPr/>
        </p:nvSpPr>
        <p:spPr>
          <a:xfrm>
            <a:off x="678561" y="3839432"/>
            <a:ext cx="77868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2800" dirty="0"/>
              <a:t>These declarations are equivalent, and are provided as syntax sugar for different uses of state.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D" sz="2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2800" dirty="0"/>
              <a:t>Pick the one that produces the easiest-to-read code in the composable.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1958F1-8B7E-3A74-021A-D683FFC564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36" t="35149" r="4497" b="11744"/>
          <a:stretch>
            <a:fillRect/>
          </a:stretch>
        </p:blipFill>
        <p:spPr>
          <a:xfrm>
            <a:off x="628650" y="2018410"/>
            <a:ext cx="8247888" cy="142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1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4A20F-0BDA-95F0-95CD-42617AA31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b="1" dirty="0"/>
              <a:t>by</a:t>
            </a:r>
            <a:r>
              <a:rPr lang="en-US" dirty="0"/>
              <a:t> Delegate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81362-CC15-1E93-84FA-7B54D535A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by</a:t>
            </a:r>
            <a:r>
              <a:rPr lang="en-US" dirty="0"/>
              <a:t> delegate syntax requires the following imports: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155E5F-24FF-F688-2C3E-8BCE3E3A7D10}"/>
              </a:ext>
            </a:extLst>
          </p:cNvPr>
          <p:cNvSpPr txBox="1"/>
          <p:nvPr/>
        </p:nvSpPr>
        <p:spPr>
          <a:xfrm>
            <a:off x="628650" y="3208119"/>
            <a:ext cx="8135874" cy="1089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import</a:t>
            </a:r>
            <a:r>
              <a:rPr lang="en-US" sz="28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androidx.compose.runtime.getValue</a:t>
            </a:r>
            <a:endParaRPr lang="en-US" sz="2800" dirty="0">
              <a:solidFill>
                <a:schemeClr val="accent4">
                  <a:lumMod val="50000"/>
                </a:schemeClr>
              </a:solidFill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import</a:t>
            </a:r>
            <a:r>
              <a:rPr lang="en-US" sz="28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US" sz="2800" dirty="0" err="1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androidx.compose.runtime.setValue</a:t>
            </a:r>
            <a:endParaRPr lang="en-US" sz="2800" dirty="0">
              <a:solidFill>
                <a:schemeClr val="accent4">
                  <a:lumMod val="50000"/>
                </a:schemeClr>
              </a:solidFill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0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757250-A663-03A7-8816-B67186139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273" y="268892"/>
            <a:ext cx="7240556" cy="645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8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42803-4E0F-ABA7-74E4-8505BA3B0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06824"/>
            <a:ext cx="7886700" cy="5686051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onValueChanged</a:t>
            </a:r>
            <a:r>
              <a:rPr lang="en-US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= </a:t>
            </a:r>
            <a:r>
              <a:rPr lang="en-US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onChanged</a:t>
            </a:r>
            <a:r>
              <a:rPr lang="en-US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(value) { ... }</a:t>
            </a:r>
          </a:p>
          <a:p>
            <a:pPr marL="0" indent="0">
              <a:buNone/>
            </a:pPr>
            <a:endParaRPr lang="en-US" dirty="0"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onValueChanged</a:t>
            </a:r>
            <a:r>
              <a:rPr lang="en-US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= { </a:t>
            </a:r>
          </a:p>
          <a:p>
            <a:pPr marL="0" indent="0">
              <a:buNone/>
            </a:pPr>
            <a:r>
              <a:rPr lang="en-US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</a:t>
            </a:r>
            <a:r>
              <a:rPr lang="en-US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nilai</a:t>
            </a:r>
            <a:r>
              <a:rPr lang="en-US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-&gt; name = </a:t>
            </a:r>
            <a:r>
              <a:rPr lang="en-US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nilai</a:t>
            </a:r>
            <a:endParaRPr lang="en-US" dirty="0"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onValueChanged</a:t>
            </a:r>
            <a:r>
              <a:rPr lang="en-US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= { name = it }</a:t>
            </a:r>
          </a:p>
        </p:txBody>
      </p:sp>
    </p:spTree>
    <p:extLst>
      <p:ext uri="{BB962C8B-B14F-4D97-AF65-F5344CB8AC3E}">
        <p14:creationId xmlns:p14="http://schemas.microsoft.com/office/powerpoint/2010/main" val="115351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20B42-3628-B21A-B892-81DE9D5AF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81D78F-BCC9-3ED1-5BB8-E8DB7CCC9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rememberSaveable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E11CF4-7E03-2867-B045-431177EA1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dirty="0"/>
              <a:t>While </a:t>
            </a:r>
            <a:r>
              <a:rPr lang="en-ID" dirty="0">
                <a:solidFill>
                  <a:schemeClr val="accent5">
                    <a:lumMod val="75000"/>
                  </a:schemeClr>
                </a:solidFill>
              </a:rPr>
              <a:t>remember</a:t>
            </a:r>
            <a:r>
              <a:rPr lang="en-ID" dirty="0"/>
              <a:t> helps you retain state across </a:t>
            </a:r>
            <a:r>
              <a:rPr lang="en-ID" dirty="0" err="1"/>
              <a:t>recompositions</a:t>
            </a:r>
            <a:r>
              <a:rPr lang="en-ID" dirty="0"/>
              <a:t>, the state is not retained across configuration changes.</a:t>
            </a:r>
          </a:p>
          <a:p>
            <a:pPr lvl="1"/>
            <a:r>
              <a:rPr lang="en-ID" dirty="0"/>
              <a:t>e.g., screen orientation rotation </a:t>
            </a:r>
          </a:p>
          <a:p>
            <a:r>
              <a:rPr lang="en-ID" dirty="0"/>
              <a:t>For this, use </a:t>
            </a:r>
            <a:r>
              <a:rPr lang="en-ID" dirty="0" err="1">
                <a:solidFill>
                  <a:schemeClr val="accent5">
                    <a:lumMod val="75000"/>
                  </a:schemeClr>
                </a:solidFill>
              </a:rPr>
              <a:t>rememberSaveable</a:t>
            </a:r>
            <a:r>
              <a:rPr lang="en-ID" dirty="0"/>
              <a:t>. </a:t>
            </a:r>
          </a:p>
          <a:p>
            <a:r>
              <a:rPr lang="en-ID" dirty="0" err="1">
                <a:solidFill>
                  <a:schemeClr val="accent5">
                    <a:lumMod val="75000"/>
                  </a:schemeClr>
                </a:solidFill>
              </a:rPr>
              <a:t>rememberSaveable</a:t>
            </a:r>
            <a:r>
              <a:rPr lang="en-ID" dirty="0"/>
              <a:t> automatically saves any value that can be saved in a Bundle. </a:t>
            </a:r>
          </a:p>
          <a:p>
            <a:r>
              <a:rPr lang="en-ID" dirty="0"/>
              <a:t>For other values, pass in a custom </a:t>
            </a:r>
            <a:r>
              <a:rPr lang="en-ID" dirty="0">
                <a:solidFill>
                  <a:schemeClr val="accent4">
                    <a:lumMod val="50000"/>
                  </a:schemeClr>
                </a:solidFill>
              </a:rPr>
              <a:t>Saver</a:t>
            </a:r>
            <a:r>
              <a:rPr lang="en-ID" dirty="0"/>
              <a:t> object.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23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6AE3-73B6-FE7B-069D-9A14E7DBE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82185-25A8-DF95-5836-28D9F2C70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dirty="0"/>
              <a:t>A </a:t>
            </a:r>
            <a:r>
              <a:rPr lang="en-ID" dirty="0">
                <a:solidFill>
                  <a:schemeClr val="accent4">
                    <a:lumMod val="50000"/>
                  </a:schemeClr>
                </a:solidFill>
              </a:rPr>
              <a:t>Saver</a:t>
            </a:r>
            <a:r>
              <a:rPr lang="en-ID" dirty="0"/>
              <a:t> helps </a:t>
            </a:r>
            <a:r>
              <a:rPr lang="en-ID" dirty="0" err="1"/>
              <a:t>rememberSaveable</a:t>
            </a:r>
            <a:r>
              <a:rPr lang="en-ID" dirty="0"/>
              <a:t> store and restore complex objects by converting them into a format that can be saved into a Bundle (e.g., a Map or List).</a:t>
            </a:r>
          </a:p>
          <a:p>
            <a:pPr lvl="1"/>
            <a:r>
              <a:rPr lang="en-ID" dirty="0"/>
              <a:t>Create a data class or object for your state.</a:t>
            </a:r>
          </a:p>
          <a:p>
            <a:pPr lvl="1"/>
            <a:r>
              <a:rPr lang="en-ID" dirty="0"/>
              <a:t>Write a Saver that converts the object into a </a:t>
            </a:r>
            <a:r>
              <a:rPr lang="en-ID" dirty="0" err="1"/>
              <a:t>savable</a:t>
            </a:r>
            <a:r>
              <a:rPr lang="en-ID" dirty="0"/>
              <a:t> format and restores it when needed.</a:t>
            </a:r>
          </a:p>
          <a:p>
            <a:pPr lvl="1"/>
            <a:r>
              <a:rPr lang="en-ID" dirty="0"/>
              <a:t>Pass the Saver to </a:t>
            </a:r>
            <a:r>
              <a:rPr lang="en-ID" dirty="0" err="1"/>
              <a:t>rememberSaveable</a:t>
            </a:r>
            <a:r>
              <a:rPr lang="en-ID" dirty="0"/>
              <a:t> to manage the custom object’s state.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1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99304E2-C3B3-D9AD-78B2-5DB0C5AF2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132" y="249586"/>
            <a:ext cx="6636447" cy="63588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EA219-0DCF-EEC9-852E-DDA92F661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87" y="683179"/>
            <a:ext cx="2207314" cy="1013099"/>
          </a:xfrm>
        </p:spPr>
        <p:txBody>
          <a:bodyPr>
            <a:noAutofit/>
          </a:bodyPr>
          <a:lstStyle/>
          <a:p>
            <a:r>
              <a:rPr lang="en-US" sz="4000" dirty="0"/>
              <a:t>Saver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79145-5B95-A21A-A7AA-F34B007ABC87}"/>
              </a:ext>
            </a:extLst>
          </p:cNvPr>
          <p:cNvSpPr txBox="1"/>
          <p:nvPr/>
        </p:nvSpPr>
        <p:spPr>
          <a:xfrm>
            <a:off x="3535356" y="313847"/>
            <a:ext cx="235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class for the state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997BF3-4344-A9FD-BC2D-F3581D4E1AE1}"/>
              </a:ext>
            </a:extLst>
          </p:cNvPr>
          <p:cNvSpPr txBox="1"/>
          <p:nvPr/>
        </p:nvSpPr>
        <p:spPr>
          <a:xfrm>
            <a:off x="4297356" y="2507082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Saver object that converts state object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F83390-E11E-EAA9-94C2-C4B8E1BF223D}"/>
              </a:ext>
            </a:extLst>
          </p:cNvPr>
          <p:cNvSpPr txBox="1"/>
          <p:nvPr/>
        </p:nvSpPr>
        <p:spPr>
          <a:xfrm>
            <a:off x="6346659" y="4007818"/>
            <a:ext cx="2226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 Saver object to </a:t>
            </a:r>
            <a:r>
              <a:rPr lang="en-US" dirty="0" err="1"/>
              <a:t>rememberSaveable</a:t>
            </a:r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6CBE16-AF47-068F-2074-27A136522C04}"/>
              </a:ext>
            </a:extLst>
          </p:cNvPr>
          <p:cNvSpPr/>
          <p:nvPr/>
        </p:nvSpPr>
        <p:spPr>
          <a:xfrm flipV="1">
            <a:off x="5329679" y="1522316"/>
            <a:ext cx="1298140" cy="984765"/>
          </a:xfrm>
          <a:custGeom>
            <a:avLst/>
            <a:gdLst>
              <a:gd name="connsiteX0" fmla="*/ 0 w 249382"/>
              <a:gd name="connsiteY0" fmla="*/ 427511 h 427511"/>
              <a:gd name="connsiteX1" fmla="*/ 249382 w 249382"/>
              <a:gd name="connsiteY1" fmla="*/ 0 h 427511"/>
              <a:gd name="connsiteX0" fmla="*/ 0 w 385532"/>
              <a:gd name="connsiteY0" fmla="*/ 427511 h 494255"/>
              <a:gd name="connsiteX1" fmla="*/ 249382 w 385532"/>
              <a:gd name="connsiteY1" fmla="*/ 0 h 494255"/>
              <a:gd name="connsiteX0" fmla="*/ 0 w 423748"/>
              <a:gd name="connsiteY0" fmla="*/ 466422 h 529807"/>
              <a:gd name="connsiteX1" fmla="*/ 346658 w 423748"/>
              <a:gd name="connsiteY1" fmla="*/ 0 h 529807"/>
              <a:gd name="connsiteX0" fmla="*/ 0 w 434874"/>
              <a:gd name="connsiteY0" fmla="*/ 466422 h 550865"/>
              <a:gd name="connsiteX1" fmla="*/ 346658 w 434874"/>
              <a:gd name="connsiteY1" fmla="*/ 0 h 550865"/>
              <a:gd name="connsiteX0" fmla="*/ 0 w 1287562"/>
              <a:gd name="connsiteY0" fmla="*/ 544325 h 619187"/>
              <a:gd name="connsiteX1" fmla="*/ 1287562 w 1287562"/>
              <a:gd name="connsiteY1" fmla="*/ 0 h 619187"/>
              <a:gd name="connsiteX0" fmla="*/ 0 w 1298140"/>
              <a:gd name="connsiteY0" fmla="*/ 544325 h 643216"/>
              <a:gd name="connsiteX1" fmla="*/ 1287562 w 1298140"/>
              <a:gd name="connsiteY1" fmla="*/ 0 h 643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98140" h="643216">
                <a:moveTo>
                  <a:pt x="0" y="544325"/>
                </a:moveTo>
                <a:cubicBezTo>
                  <a:pt x="1645756" y="858003"/>
                  <a:pt x="1236860" y="356513"/>
                  <a:pt x="1287562" y="0"/>
                </a:cubicBezTo>
              </a:path>
            </a:pathLst>
          </a:custGeom>
          <a:noFill/>
          <a:ln w="28575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88AEAE90-4F0D-0465-A27C-179684886E3C}"/>
              </a:ext>
            </a:extLst>
          </p:cNvPr>
          <p:cNvSpPr/>
          <p:nvPr/>
        </p:nvSpPr>
        <p:spPr>
          <a:xfrm rot="16200000" flipV="1">
            <a:off x="5751683" y="2252356"/>
            <a:ext cx="722050" cy="2539582"/>
          </a:xfrm>
          <a:custGeom>
            <a:avLst/>
            <a:gdLst>
              <a:gd name="connsiteX0" fmla="*/ 0 w 249382"/>
              <a:gd name="connsiteY0" fmla="*/ 427511 h 427511"/>
              <a:gd name="connsiteX1" fmla="*/ 249382 w 249382"/>
              <a:gd name="connsiteY1" fmla="*/ 0 h 427511"/>
              <a:gd name="connsiteX0" fmla="*/ 0 w 385532"/>
              <a:gd name="connsiteY0" fmla="*/ 427511 h 494255"/>
              <a:gd name="connsiteX1" fmla="*/ 249382 w 385532"/>
              <a:gd name="connsiteY1" fmla="*/ 0 h 494255"/>
              <a:gd name="connsiteX0" fmla="*/ 0 w 423748"/>
              <a:gd name="connsiteY0" fmla="*/ 466422 h 529807"/>
              <a:gd name="connsiteX1" fmla="*/ 346658 w 423748"/>
              <a:gd name="connsiteY1" fmla="*/ 0 h 529807"/>
              <a:gd name="connsiteX0" fmla="*/ 0 w 434874"/>
              <a:gd name="connsiteY0" fmla="*/ 466422 h 550865"/>
              <a:gd name="connsiteX1" fmla="*/ 346658 w 434874"/>
              <a:gd name="connsiteY1" fmla="*/ 0 h 550865"/>
              <a:gd name="connsiteX0" fmla="*/ 449987 w 688159"/>
              <a:gd name="connsiteY0" fmla="*/ 1584606 h 1613531"/>
              <a:gd name="connsiteX1" fmla="*/ 1515 w 688159"/>
              <a:gd name="connsiteY1" fmla="*/ 0 h 1613531"/>
              <a:gd name="connsiteX0" fmla="*/ 448472 w 811317"/>
              <a:gd name="connsiteY0" fmla="*/ 1589734 h 1612365"/>
              <a:gd name="connsiteX1" fmla="*/ 0 w 811317"/>
              <a:gd name="connsiteY1" fmla="*/ 5128 h 1612365"/>
              <a:gd name="connsiteX0" fmla="*/ 514733 w 860021"/>
              <a:gd name="connsiteY0" fmla="*/ 2119526 h 2137627"/>
              <a:gd name="connsiteX1" fmla="*/ 0 w 860021"/>
              <a:gd name="connsiteY1" fmla="*/ 4066 h 2137627"/>
              <a:gd name="connsiteX0" fmla="*/ 514733 w 801129"/>
              <a:gd name="connsiteY0" fmla="*/ 2121827 h 2121827"/>
              <a:gd name="connsiteX1" fmla="*/ 0 w 801129"/>
              <a:gd name="connsiteY1" fmla="*/ 6367 h 2121827"/>
              <a:gd name="connsiteX0" fmla="*/ 514733 w 706910"/>
              <a:gd name="connsiteY0" fmla="*/ 2120047 h 2120047"/>
              <a:gd name="connsiteX1" fmla="*/ 0 w 706910"/>
              <a:gd name="connsiteY1" fmla="*/ 4587 h 2120047"/>
              <a:gd name="connsiteX0" fmla="*/ 514733 w 798026"/>
              <a:gd name="connsiteY0" fmla="*/ 2120047 h 2120047"/>
              <a:gd name="connsiteX1" fmla="*/ 0 w 798026"/>
              <a:gd name="connsiteY1" fmla="*/ 4587 h 2120047"/>
              <a:gd name="connsiteX0" fmla="*/ 514733 w 934584"/>
              <a:gd name="connsiteY0" fmla="*/ 2119040 h 2203323"/>
              <a:gd name="connsiteX1" fmla="*/ 0 w 934584"/>
              <a:gd name="connsiteY1" fmla="*/ 3580 h 2203323"/>
              <a:gd name="connsiteX0" fmla="*/ 514733 w 946095"/>
              <a:gd name="connsiteY0" fmla="*/ 2119914 h 2120157"/>
              <a:gd name="connsiteX1" fmla="*/ 0 w 946095"/>
              <a:gd name="connsiteY1" fmla="*/ 4454 h 2120157"/>
              <a:gd name="connsiteX0" fmla="*/ 514733 w 1046322"/>
              <a:gd name="connsiteY0" fmla="*/ 2119935 h 2119935"/>
              <a:gd name="connsiteX1" fmla="*/ 874929 w 1046322"/>
              <a:gd name="connsiteY1" fmla="*/ 844371 h 2119935"/>
              <a:gd name="connsiteX2" fmla="*/ 0 w 1046322"/>
              <a:gd name="connsiteY2" fmla="*/ 4475 h 2119935"/>
              <a:gd name="connsiteX0" fmla="*/ 514733 w 931046"/>
              <a:gd name="connsiteY0" fmla="*/ 2132092 h 2132092"/>
              <a:gd name="connsiteX1" fmla="*/ 874929 w 931046"/>
              <a:gd name="connsiteY1" fmla="*/ 856528 h 2132092"/>
              <a:gd name="connsiteX2" fmla="*/ 0 w 931046"/>
              <a:gd name="connsiteY2" fmla="*/ 16632 h 2132092"/>
              <a:gd name="connsiteX0" fmla="*/ 514733 w 931046"/>
              <a:gd name="connsiteY0" fmla="*/ 2132092 h 2141826"/>
              <a:gd name="connsiteX1" fmla="*/ 874929 w 931046"/>
              <a:gd name="connsiteY1" fmla="*/ 856528 h 2141826"/>
              <a:gd name="connsiteX2" fmla="*/ 0 w 931046"/>
              <a:gd name="connsiteY2" fmla="*/ 16632 h 2141826"/>
              <a:gd name="connsiteX0" fmla="*/ 514733 w 722050"/>
              <a:gd name="connsiteY0" fmla="*/ 2157441 h 2164477"/>
              <a:gd name="connsiteX1" fmla="*/ 583381 w 722050"/>
              <a:gd name="connsiteY1" fmla="*/ 475265 h 2164477"/>
              <a:gd name="connsiteX2" fmla="*/ 0 w 722050"/>
              <a:gd name="connsiteY2" fmla="*/ 41981 h 216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2050" h="2164477">
                <a:moveTo>
                  <a:pt x="514733" y="2157441"/>
                </a:moveTo>
                <a:cubicBezTo>
                  <a:pt x="966102" y="2274403"/>
                  <a:pt x="463316" y="900453"/>
                  <a:pt x="583381" y="475265"/>
                </a:cubicBezTo>
                <a:cubicBezTo>
                  <a:pt x="703446" y="50077"/>
                  <a:pt x="1009472" y="-75887"/>
                  <a:pt x="0" y="41981"/>
                </a:cubicBezTo>
              </a:path>
            </a:pathLst>
          </a:custGeom>
          <a:noFill/>
          <a:ln w="28575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93A9E569-32F5-3C63-7BBD-008582D7F8CD}"/>
              </a:ext>
            </a:extLst>
          </p:cNvPr>
          <p:cNvSpPr/>
          <p:nvPr/>
        </p:nvSpPr>
        <p:spPr>
          <a:xfrm rot="16200000" flipV="1">
            <a:off x="2538305" y="-23614"/>
            <a:ext cx="460049" cy="1388409"/>
          </a:xfrm>
          <a:custGeom>
            <a:avLst/>
            <a:gdLst>
              <a:gd name="connsiteX0" fmla="*/ 0 w 249382"/>
              <a:gd name="connsiteY0" fmla="*/ 427511 h 427511"/>
              <a:gd name="connsiteX1" fmla="*/ 249382 w 249382"/>
              <a:gd name="connsiteY1" fmla="*/ 0 h 427511"/>
              <a:gd name="connsiteX0" fmla="*/ 0 w 385532"/>
              <a:gd name="connsiteY0" fmla="*/ 427511 h 494255"/>
              <a:gd name="connsiteX1" fmla="*/ 249382 w 385532"/>
              <a:gd name="connsiteY1" fmla="*/ 0 h 494255"/>
              <a:gd name="connsiteX0" fmla="*/ 0 w 423748"/>
              <a:gd name="connsiteY0" fmla="*/ 466422 h 529807"/>
              <a:gd name="connsiteX1" fmla="*/ 346658 w 423748"/>
              <a:gd name="connsiteY1" fmla="*/ 0 h 529807"/>
              <a:gd name="connsiteX0" fmla="*/ 0 w 434874"/>
              <a:gd name="connsiteY0" fmla="*/ 466422 h 550865"/>
              <a:gd name="connsiteX1" fmla="*/ 346658 w 434874"/>
              <a:gd name="connsiteY1" fmla="*/ 0 h 550865"/>
              <a:gd name="connsiteX0" fmla="*/ 0 w 460049"/>
              <a:gd name="connsiteY0" fmla="*/ 1144110 h 1183337"/>
              <a:gd name="connsiteX1" fmla="*/ 399666 w 460049"/>
              <a:gd name="connsiteY1" fmla="*/ 0 h 1183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0049" h="1183337">
                <a:moveTo>
                  <a:pt x="0" y="1144110"/>
                </a:moveTo>
                <a:cubicBezTo>
                  <a:pt x="744608" y="1397197"/>
                  <a:pt x="348964" y="356513"/>
                  <a:pt x="399666" y="0"/>
                </a:cubicBezTo>
              </a:path>
            </a:pathLst>
          </a:custGeom>
          <a:noFill/>
          <a:ln w="28575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0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 animBg="1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19CDC-2986-F1B8-B458-274E539B0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Stateful vs Stateless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05D2-3E7A-B5FA-426F-926AD762B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D" dirty="0"/>
              <a:t>A composable that uses remember to store an object creates internal state, making the composable </a:t>
            </a:r>
            <a:r>
              <a:rPr lang="en-ID" i="1" dirty="0"/>
              <a:t>stateful</a:t>
            </a:r>
            <a:r>
              <a:rPr lang="en-ID" dirty="0"/>
              <a:t>. </a:t>
            </a:r>
          </a:p>
          <a:p>
            <a:pPr lvl="1"/>
            <a:r>
              <a:rPr lang="en-US" dirty="0"/>
              <a:t>This is useful in situations where a caller doesn't need to control the state and can use it without having to manage the state themselves. </a:t>
            </a:r>
          </a:p>
          <a:p>
            <a:pPr lvl="1"/>
            <a:r>
              <a:rPr lang="en-US" dirty="0"/>
              <a:t>However, </a:t>
            </a:r>
            <a:r>
              <a:rPr lang="en-US" dirty="0" err="1"/>
              <a:t>composables</a:t>
            </a:r>
            <a:r>
              <a:rPr lang="en-US" dirty="0"/>
              <a:t> with internal state tend to be less reusable and harder to test.</a:t>
            </a:r>
          </a:p>
        </p:txBody>
      </p:sp>
    </p:spTree>
    <p:extLst>
      <p:ext uri="{BB962C8B-B14F-4D97-AF65-F5344CB8AC3E}">
        <p14:creationId xmlns:p14="http://schemas.microsoft.com/office/powerpoint/2010/main" val="163801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216DE-C62B-4CCA-6C41-76FFB825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40103-339C-3504-9A2B-19156B17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Stateful vs Stateless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752FA-1D2B-B03F-7638-E2C9FD738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D" dirty="0"/>
              <a:t>A </a:t>
            </a:r>
            <a:r>
              <a:rPr lang="en-ID" i="1" dirty="0"/>
              <a:t>stateless</a:t>
            </a:r>
            <a:r>
              <a:rPr lang="en-ID" dirty="0"/>
              <a:t> composable is a composable that doesn't hold any state. An easy way to achieve stateless is by using </a:t>
            </a:r>
            <a:r>
              <a:rPr lang="en-ID" dirty="0">
                <a:hlinkClick r:id="rId2"/>
              </a:rPr>
              <a:t>state hoisting</a:t>
            </a:r>
            <a:r>
              <a:rPr lang="en-ID" dirty="0"/>
              <a:t>.</a:t>
            </a:r>
          </a:p>
          <a:p>
            <a:r>
              <a:rPr lang="en-ID" dirty="0"/>
              <a:t>To develop reusable </a:t>
            </a:r>
            <a:r>
              <a:rPr lang="en-ID" dirty="0" err="1"/>
              <a:t>composables</a:t>
            </a:r>
            <a:r>
              <a:rPr lang="en-ID" dirty="0"/>
              <a:t>, it is required to expose both a stateful and a stateless version of the same composable. </a:t>
            </a:r>
          </a:p>
          <a:p>
            <a:r>
              <a:rPr lang="en-ID" dirty="0"/>
              <a:t>The stateful version is convenient for callers that don't care about the state, and the stateless version is necessary for callers that need to control or hoist the state.</a:t>
            </a:r>
          </a:p>
        </p:txBody>
      </p:sp>
    </p:spTree>
    <p:extLst>
      <p:ext uri="{BB962C8B-B14F-4D97-AF65-F5344CB8AC3E}">
        <p14:creationId xmlns:p14="http://schemas.microsoft.com/office/powerpoint/2010/main" val="1129210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00866-D033-AA63-9DC9-CBDF5EAF6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Hoisting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8C33E-D71B-5674-66DB-EE9D98FA8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sz="3200" dirty="0"/>
              <a:t>State hoisting in Compose is a pattern of moving state to a </a:t>
            </a:r>
            <a:r>
              <a:rPr lang="en-ID" sz="3200" dirty="0" err="1"/>
              <a:t>composable's</a:t>
            </a:r>
            <a:r>
              <a:rPr lang="en-ID" sz="3200" dirty="0"/>
              <a:t> caller to make a composable stateless. </a:t>
            </a:r>
          </a:p>
          <a:p>
            <a:r>
              <a:rPr lang="en-ID" sz="3200" dirty="0"/>
              <a:t>The general pattern for state hoisting in Jetpack Compose is to replace the state variable with two parameters:</a:t>
            </a:r>
          </a:p>
          <a:p>
            <a:pPr lvl="1"/>
            <a:r>
              <a:rPr lang="en-ID" sz="2800" b="1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value: T:</a:t>
            </a:r>
            <a:r>
              <a:rPr lang="en-ID" sz="2800" dirty="0"/>
              <a:t> the current value to display</a:t>
            </a:r>
          </a:p>
          <a:p>
            <a:pPr lvl="1"/>
            <a:r>
              <a:rPr lang="en-ID" sz="2800" b="1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onValueChange</a:t>
            </a:r>
            <a:r>
              <a:rPr lang="en-ID" sz="2800" b="1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: (T) -&gt; Unit:</a:t>
            </a:r>
            <a:r>
              <a:rPr lang="en-ID" sz="2800" dirty="0"/>
              <a:t> an event that requests the value to change, where T is the proposed new value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4570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BBD8-DD70-FF7E-AC60-7937E2305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977B-9603-0966-891E-AB6385BA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Hoisting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D41D6-899B-C2BF-0F5C-5C4B0E7FE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State that is hoisted has some important properties/benefits:</a:t>
            </a:r>
          </a:p>
          <a:p>
            <a:pPr lvl="1"/>
            <a:r>
              <a:rPr lang="en-ID" b="1" dirty="0"/>
              <a:t>Single source of truth</a:t>
            </a:r>
            <a:endParaRPr lang="en-ID" dirty="0"/>
          </a:p>
          <a:p>
            <a:pPr lvl="1"/>
            <a:r>
              <a:rPr lang="en-ID" b="1" dirty="0"/>
              <a:t>Encapsulated</a:t>
            </a:r>
          </a:p>
          <a:p>
            <a:pPr lvl="1"/>
            <a:r>
              <a:rPr lang="en-ID" b="1" dirty="0"/>
              <a:t>Shareable</a:t>
            </a:r>
            <a:endParaRPr lang="en-ID" dirty="0"/>
          </a:p>
          <a:p>
            <a:pPr lvl="1"/>
            <a:r>
              <a:rPr lang="en-ID" b="1" dirty="0" err="1"/>
              <a:t>Interceptable</a:t>
            </a:r>
            <a:endParaRPr lang="en-ID" dirty="0"/>
          </a:p>
          <a:p>
            <a:pPr lvl="1"/>
            <a:r>
              <a:rPr lang="en-ID" b="1" dirty="0"/>
              <a:t>Decoupled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7194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DC42B03B-50D1-5143-D8AE-D2FDDF5AF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121" y="844184"/>
            <a:ext cx="2574870" cy="289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786A11-388D-13DE-64D8-BC4FC754CFFC}"/>
              </a:ext>
            </a:extLst>
          </p:cNvPr>
          <p:cNvSpPr txBox="1"/>
          <p:nvPr/>
        </p:nvSpPr>
        <p:spPr>
          <a:xfrm>
            <a:off x="5749636" y="4175787"/>
            <a:ext cx="313112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pattern where the state goes down, and events go up is called a unidirectional data flow. </a:t>
            </a:r>
          </a:p>
          <a:p>
            <a:endParaRPr lang="en-US" sz="1600" dirty="0"/>
          </a:p>
          <a:p>
            <a:r>
              <a:rPr lang="en-US" sz="1600" dirty="0"/>
              <a:t>In this case, the state goes down from </a:t>
            </a:r>
            <a:r>
              <a:rPr lang="en-US" sz="1600" dirty="0" err="1"/>
              <a:t>HelloScreen</a:t>
            </a:r>
            <a:r>
              <a:rPr lang="en-US" sz="1600" dirty="0"/>
              <a:t> to </a:t>
            </a:r>
            <a:r>
              <a:rPr lang="en-US" sz="1600" dirty="0" err="1"/>
              <a:t>HelloContent</a:t>
            </a:r>
            <a:r>
              <a:rPr lang="en-US" sz="1600" dirty="0"/>
              <a:t> and events go up from </a:t>
            </a:r>
            <a:r>
              <a:rPr lang="en-US" sz="1600" dirty="0" err="1"/>
              <a:t>HelloContent</a:t>
            </a:r>
            <a:r>
              <a:rPr lang="en-US" sz="1600" dirty="0"/>
              <a:t> to </a:t>
            </a:r>
            <a:r>
              <a:rPr lang="en-US" sz="1600" dirty="0" err="1"/>
              <a:t>HelloScreen</a:t>
            </a:r>
            <a:r>
              <a:rPr lang="en-US" sz="160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436E27-16EA-6ABA-B729-396CAA7BD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94" y="374650"/>
            <a:ext cx="48895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89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52859-B64A-F910-2EAD-534F13AAD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1A62D1-4CC1-7174-0EAD-016469D5E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946"/>
            <a:ext cx="4763443" cy="54563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94B953-6D18-FA93-49B8-63DA471F8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0557" y="652946"/>
            <a:ext cx="4763443" cy="59512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7DD0CA-B309-6ECD-7746-099AFD53E13E}"/>
              </a:ext>
            </a:extLst>
          </p:cNvPr>
          <p:cNvSpPr txBox="1"/>
          <p:nvPr/>
        </p:nvSpPr>
        <p:spPr>
          <a:xfrm>
            <a:off x="410817" y="265043"/>
            <a:ext cx="2316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Without state hoisting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E4CA35-4B72-1C82-D334-94452439E0AC}"/>
              </a:ext>
            </a:extLst>
          </p:cNvPr>
          <p:cNvSpPr txBox="1"/>
          <p:nvPr/>
        </p:nvSpPr>
        <p:spPr>
          <a:xfrm>
            <a:off x="4572000" y="258416"/>
            <a:ext cx="1988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state hoisting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7509DC-6155-92B2-7B32-6699337CFAAB}"/>
              </a:ext>
            </a:extLst>
          </p:cNvPr>
          <p:cNvSpPr txBox="1"/>
          <p:nvPr/>
        </p:nvSpPr>
        <p:spPr>
          <a:xfrm>
            <a:off x="410817" y="5957826"/>
            <a:ext cx="3679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State and event handling are tightly </a:t>
            </a:r>
            <a:br>
              <a:rPr lang="en-US" i="1" dirty="0"/>
            </a:br>
            <a:r>
              <a:rPr lang="en-US" i="1" dirty="0"/>
              <a:t>coupled to the composable</a:t>
            </a:r>
          </a:p>
        </p:txBody>
      </p:sp>
    </p:spTree>
    <p:extLst>
      <p:ext uri="{BB962C8B-B14F-4D97-AF65-F5344CB8AC3E}">
        <p14:creationId xmlns:p14="http://schemas.microsoft.com/office/powerpoint/2010/main" val="381830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DE3D4-141F-AD60-ECEE-F9D8F978F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CB51E-5534-736B-C835-BF0E58546D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 Architecture and ViewModel</a:t>
            </a:r>
          </a:p>
        </p:txBody>
      </p:sp>
    </p:spTree>
    <p:extLst>
      <p:ext uri="{BB962C8B-B14F-4D97-AF65-F5344CB8AC3E}">
        <p14:creationId xmlns:p14="http://schemas.microsoft.com/office/powerpoint/2010/main" val="319468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14:reveal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E4B245-879A-570D-FA1A-91F36531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Separations of Concerns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2B6C3F-7217-EABF-A458-17B0EA168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/>
              <a:t>The separation of concerns design principle states that the app is divided into classes of functions, each with separate responsibilities.</a:t>
            </a:r>
          </a:p>
          <a:p>
            <a:r>
              <a:rPr lang="en-US" sz="3200" dirty="0"/>
              <a:t>The drive UI from a model principle states that UI is driven from a model, preferably a persistent model.</a:t>
            </a:r>
          </a:p>
          <a:p>
            <a:pPr lvl="1"/>
            <a:r>
              <a:rPr lang="en-US" sz="2800" dirty="0"/>
              <a:t>Models are components responsible for handling the data for an app.</a:t>
            </a:r>
          </a:p>
          <a:p>
            <a:pPr lvl="1"/>
            <a:r>
              <a:rPr lang="en-US" sz="2800" dirty="0"/>
              <a:t>They're independent from the UI elements and app components in the app, so they're unaffected by the app's lifecycle and associated concerns.</a:t>
            </a:r>
          </a:p>
        </p:txBody>
      </p:sp>
    </p:spTree>
    <p:extLst>
      <p:ext uri="{BB962C8B-B14F-4D97-AF65-F5344CB8AC3E}">
        <p14:creationId xmlns:p14="http://schemas.microsoft.com/office/powerpoint/2010/main" val="414192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2E57-DC26-8A97-C161-44C859EBD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6877D2-C3D2-AD79-B8BD-D9FBD1910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Recommended App Architecture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C91EEB-9A85-6F01-9EBF-E9FDEE100D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647" y="1876222"/>
            <a:ext cx="3867023" cy="22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D04097-FF4B-AD10-B57B-53427D3D2C01}"/>
              </a:ext>
            </a:extLst>
          </p:cNvPr>
          <p:cNvSpPr txBox="1"/>
          <p:nvPr/>
        </p:nvSpPr>
        <p:spPr>
          <a:xfrm>
            <a:off x="5155763" y="4313780"/>
            <a:ext cx="36407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Domain layer can be added to simplify and reuse the interactions between the UI and data layers.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C9C680-37C8-D394-5ABD-3B73C0B61217}"/>
              </a:ext>
            </a:extLst>
          </p:cNvPr>
          <p:cNvSpPr txBox="1"/>
          <p:nvPr/>
        </p:nvSpPr>
        <p:spPr>
          <a:xfrm>
            <a:off x="628650" y="1997839"/>
            <a:ext cx="421229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Considering the common architectural principles, each app should have at least two layers: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UI layer</a:t>
            </a:r>
            <a:r>
              <a:rPr lang="en-US" sz="2400" dirty="0"/>
              <a:t>: a layer that displays the app data on the screen but is independent of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Data layer</a:t>
            </a:r>
            <a:r>
              <a:rPr lang="en-US" sz="2400" dirty="0"/>
              <a:t>: a layer that stores, retrieves, and exposes the app data.</a:t>
            </a:r>
          </a:p>
        </p:txBody>
      </p:sp>
    </p:spTree>
    <p:extLst>
      <p:ext uri="{BB962C8B-B14F-4D97-AF65-F5344CB8AC3E}">
        <p14:creationId xmlns:p14="http://schemas.microsoft.com/office/powerpoint/2010/main" val="343528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18982-6AAD-A167-A511-A67320901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UI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938D6-B3BA-CA12-0E6B-ADCC9B6E4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333314" cy="4667250"/>
          </a:xfrm>
        </p:spPr>
        <p:txBody>
          <a:bodyPr>
            <a:normAutofit/>
          </a:bodyPr>
          <a:lstStyle/>
          <a:p>
            <a:r>
              <a:rPr lang="en-ID" sz="2800" dirty="0"/>
              <a:t>The role of the UI layer, or presentation layer, is to display the application data on the screen. </a:t>
            </a:r>
          </a:p>
          <a:p>
            <a:r>
              <a:rPr lang="en-ID" sz="2800" dirty="0"/>
              <a:t>Whenever the data changes due to a user interaction, such as pressing a button, the UI should update to reflect the changes.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F880E2D-A994-F1BC-86AE-2EB17E92C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964" y="1825626"/>
            <a:ext cx="4074458" cy="284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64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97924-F6E1-46ED-EDC7-99121F07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5D34A-D945-ED7E-AFFA-F11FD4D3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F210F-3E3D-9019-9A77-80FD380C7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825626"/>
            <a:ext cx="4198844" cy="4667249"/>
          </a:xfrm>
        </p:spPr>
        <p:txBody>
          <a:bodyPr>
            <a:normAutofit fontScale="92500"/>
          </a:bodyPr>
          <a:lstStyle/>
          <a:p>
            <a:r>
              <a:rPr lang="en-ID" sz="2800" dirty="0"/>
              <a:t>The UI layer is made up of the following components:</a:t>
            </a:r>
          </a:p>
          <a:p>
            <a:pPr lvl="1"/>
            <a:r>
              <a:rPr lang="en-ID" sz="2400" b="1" dirty="0"/>
              <a:t>UI elements:</a:t>
            </a:r>
            <a:r>
              <a:rPr lang="en-ID" sz="2400" dirty="0"/>
              <a:t> components that render the data on the screen and build these elements using </a:t>
            </a:r>
            <a:r>
              <a:rPr lang="en-ID" sz="2400" dirty="0">
                <a:hlinkClick r:id="rId3"/>
              </a:rPr>
              <a:t>Jetpack Compose</a:t>
            </a:r>
            <a:r>
              <a:rPr lang="en-ID" sz="2400" dirty="0"/>
              <a:t>.</a:t>
            </a:r>
          </a:p>
          <a:p>
            <a:pPr lvl="1"/>
            <a:r>
              <a:rPr lang="en-ID" sz="2400" b="1" dirty="0"/>
              <a:t>State holders:</a:t>
            </a:r>
            <a:r>
              <a:rPr lang="en-ID" sz="2400" dirty="0"/>
              <a:t> components that hold the data, expose it to the UI, and handle the app logic. An example state holder is </a:t>
            </a:r>
            <a:r>
              <a:rPr lang="en-ID" sz="2400" dirty="0">
                <a:hlinkClick r:id="rId4"/>
              </a:rPr>
              <a:t>ViewModel</a:t>
            </a:r>
            <a:r>
              <a:rPr lang="en-ID" sz="2400" dirty="0"/>
              <a:t>.</a:t>
            </a:r>
            <a:endParaRPr lang="en-US" sz="2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3BAC451-CDFB-11EA-365D-093B49F00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964" y="1825626"/>
            <a:ext cx="4074458" cy="284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997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4B3C2-6F35-9968-9309-1F8FF7DE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51157-3F4D-36F3-58FF-7F5DCA834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44905-CA2D-8877-30CB-FC4BF8883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825626"/>
            <a:ext cx="4198844" cy="4667249"/>
          </a:xfrm>
        </p:spPr>
        <p:txBody>
          <a:bodyPr>
            <a:normAutofit/>
          </a:bodyPr>
          <a:lstStyle/>
          <a:p>
            <a:r>
              <a:rPr lang="en-ID" sz="2400" dirty="0"/>
              <a:t>The ViewModel component holds and exposes the state the UI consumes. The UI state is application data transformed by ViewModel. </a:t>
            </a:r>
          </a:p>
          <a:p>
            <a:r>
              <a:rPr lang="en-ID" sz="2400" dirty="0"/>
              <a:t>ViewModel lets the app follow the architecture principle of driving the UI from the model.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9D577C4-119F-1D27-015B-F260147CD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964" y="1825626"/>
            <a:ext cx="4074458" cy="284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F4DD07-5FED-EA68-1E1A-259BAABE78F4}"/>
              </a:ext>
            </a:extLst>
          </p:cNvPr>
          <p:cNvSpPr txBox="1"/>
          <p:nvPr/>
        </p:nvSpPr>
        <p:spPr>
          <a:xfrm>
            <a:off x="5123329" y="4810561"/>
            <a:ext cx="36172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/>
              <a:t>ViewModel stores the app-related data that isn't destroyed when the activity is destroyed and recreated by the Android framework. </a:t>
            </a:r>
          </a:p>
        </p:txBody>
      </p:sp>
    </p:spTree>
    <p:extLst>
      <p:ext uri="{BB962C8B-B14F-4D97-AF65-F5344CB8AC3E}">
        <p14:creationId xmlns:p14="http://schemas.microsoft.com/office/powerpoint/2010/main" val="72882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BE47C-5DEC-C1A7-499F-FFCBA6C6D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D957-EF82-BBEA-BAAF-A0A35823E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442BC-7E5C-E1D1-F6CD-898A9844F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825626"/>
            <a:ext cx="4198844" cy="4667249"/>
          </a:xfrm>
        </p:spPr>
        <p:txBody>
          <a:bodyPr>
            <a:normAutofit/>
          </a:bodyPr>
          <a:lstStyle/>
          <a:p>
            <a:r>
              <a:rPr lang="en-ID" sz="2400" dirty="0"/>
              <a:t>Unlike the activity instance, ViewModel objects are not destroyed. </a:t>
            </a:r>
          </a:p>
          <a:p>
            <a:r>
              <a:rPr lang="en-ID" sz="2400" dirty="0"/>
              <a:t>The app automatically retains ViewModel objects during configuration changes so that the data they hold is immediately available after the </a:t>
            </a:r>
            <a:r>
              <a:rPr lang="en-ID" sz="2400" dirty="0" err="1"/>
              <a:t>recomposition</a:t>
            </a:r>
            <a:r>
              <a:rPr lang="en-ID" sz="2400" dirty="0"/>
              <a:t>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EEDB66E-F043-EBEE-B8B9-0CCF77E13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964" y="1825626"/>
            <a:ext cx="4074458" cy="284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00F299-B95D-010B-D5BF-C060C2365434}"/>
              </a:ext>
            </a:extLst>
          </p:cNvPr>
          <p:cNvSpPr txBox="1"/>
          <p:nvPr/>
        </p:nvSpPr>
        <p:spPr>
          <a:xfrm>
            <a:off x="5109883" y="4810561"/>
            <a:ext cx="35903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/>
              <a:t>To implement ViewModel in your app, extend the ViewModel class, which comes from the architecture components library and stores app data within that class.</a:t>
            </a:r>
          </a:p>
        </p:txBody>
      </p:sp>
    </p:spTree>
    <p:extLst>
      <p:ext uri="{BB962C8B-B14F-4D97-AF65-F5344CB8AC3E}">
        <p14:creationId xmlns:p14="http://schemas.microsoft.com/office/powerpoint/2010/main" val="7169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EC04E-542B-71CF-2B2F-2EBD3310D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32593-5E01-8D80-F4D4-CC476C107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C67B4-BFFF-B657-6D27-53278658C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4034118"/>
            <a:ext cx="7886698" cy="2608729"/>
          </a:xfrm>
        </p:spPr>
        <p:txBody>
          <a:bodyPr>
            <a:normAutofit/>
          </a:bodyPr>
          <a:lstStyle/>
          <a:p>
            <a:r>
              <a:rPr lang="en-ID" sz="2800" dirty="0"/>
              <a:t>The UI is what the user sees, and the UI state is what the app says they should see. </a:t>
            </a:r>
          </a:p>
          <a:p>
            <a:r>
              <a:rPr lang="en-ID" sz="2800" dirty="0"/>
              <a:t>The UI is the visual representation of the UI state. </a:t>
            </a:r>
          </a:p>
          <a:p>
            <a:r>
              <a:rPr lang="en-ID" sz="2800" dirty="0"/>
              <a:t>Any changes to the UI state immediately are reflected in the UI.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B461EF9-F8B6-BB6A-E9A3-EE1FD43A3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48" y="1690689"/>
            <a:ext cx="7886701" cy="1963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6DA94B-4BE4-3C43-C57A-6DF06F727259}"/>
              </a:ext>
            </a:extLst>
          </p:cNvPr>
          <p:cNvSpPr txBox="1"/>
          <p:nvPr/>
        </p:nvSpPr>
        <p:spPr>
          <a:xfrm>
            <a:off x="5355292" y="710555"/>
            <a:ext cx="24036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UI is a result of binding UI elements on the screen with the </a:t>
            </a:r>
            <a:br>
              <a:rPr lang="en-US" dirty="0"/>
            </a:br>
            <a:r>
              <a:rPr lang="en-US" dirty="0"/>
              <a:t>UI state.</a:t>
            </a:r>
          </a:p>
        </p:txBody>
      </p:sp>
    </p:spTree>
    <p:extLst>
      <p:ext uri="{BB962C8B-B14F-4D97-AF65-F5344CB8AC3E}">
        <p14:creationId xmlns:p14="http://schemas.microsoft.com/office/powerpoint/2010/main" val="272124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28B6D-6CEF-77F7-920B-78C1C761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ViewModel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EFBB7-F10A-6219-65D1-DB131D367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Adding dependencies in module :app </a:t>
            </a:r>
            <a:r>
              <a:rPr lang="en-US" sz="2400" dirty="0" err="1"/>
              <a:t>build.gradle</a:t>
            </a:r>
            <a:r>
              <a:rPr lang="en-US" sz="2400" dirty="0"/>
              <a:t> file.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0B709F-1B23-DB4C-89E6-2D22109289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65" t="28449" r="4079" b="9401"/>
          <a:stretch>
            <a:fillRect/>
          </a:stretch>
        </p:blipFill>
        <p:spPr>
          <a:xfrm>
            <a:off x="628650" y="2628899"/>
            <a:ext cx="8211024" cy="180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3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17C2C-5D25-8C86-2CDB-FC917649F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4ED0-2715-601D-EA28-76070E11B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ViewModel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81114-FA3A-0103-EEC2-796A8FF21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Create </a:t>
            </a:r>
            <a:r>
              <a:rPr lang="en-US" sz="2400" dirty="0" err="1"/>
              <a:t>AppViewModel</a:t>
            </a:r>
            <a:r>
              <a:rPr lang="en-US" sz="2400" dirty="0"/>
              <a:t> class that extends ViewModel class.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466D65-314E-198D-8D2A-E04DF5DFB054}"/>
              </a:ext>
            </a:extLst>
          </p:cNvPr>
          <p:cNvSpPr txBox="1"/>
          <p:nvPr/>
        </p:nvSpPr>
        <p:spPr>
          <a:xfrm>
            <a:off x="628649" y="2725288"/>
            <a:ext cx="746647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2800" dirty="0">
                <a:solidFill>
                  <a:srgbClr val="0033B3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class </a:t>
            </a:r>
            <a:r>
              <a:rPr lang="en-ID" sz="2800" dirty="0" err="1">
                <a:solidFill>
                  <a:srgbClr val="000000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AppViewModel</a:t>
            </a:r>
            <a:r>
              <a:rPr lang="en-ID" sz="2800" dirty="0">
                <a:solidFill>
                  <a:srgbClr val="000000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sz="2800" dirty="0">
                <a:solidFill>
                  <a:srgbClr val="080808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: ViewModel() </a:t>
            </a:r>
            <a:r>
              <a:rPr lang="en-ID" sz="2800" dirty="0">
                <a:solidFill>
                  <a:srgbClr val="808080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{</a:t>
            </a:r>
            <a:br>
              <a:rPr lang="en-ID" sz="2800" dirty="0">
                <a:solidFill>
                  <a:srgbClr val="808080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sz="2800" dirty="0">
                <a:solidFill>
                  <a:srgbClr val="808080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// ...</a:t>
            </a:r>
            <a:br>
              <a:rPr lang="en-ID" sz="2800" dirty="0">
                <a:solidFill>
                  <a:srgbClr val="808080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sz="2800" dirty="0">
                <a:solidFill>
                  <a:srgbClr val="808080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}</a:t>
            </a:r>
            <a:endParaRPr lang="en-ID" sz="2800" dirty="0">
              <a:solidFill>
                <a:srgbClr val="080808"/>
              </a:solidFill>
              <a:effectLst/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24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8DD47-05F4-0710-4656-084372DE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943B4-9A81-EF91-DDC4-695E13A43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Model Data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A0FF4-6B5C-B65E-DAF3-E120905D0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Add a model class for state UI called </a:t>
            </a:r>
            <a:r>
              <a:rPr lang="en-ID" dirty="0" err="1"/>
              <a:t>AppUiState</a:t>
            </a:r>
            <a:r>
              <a:rPr lang="en-ID" dirty="0"/>
              <a:t>. </a:t>
            </a:r>
          </a:p>
          <a:p>
            <a:pPr marL="0" indent="0">
              <a:buNone/>
            </a:pPr>
            <a:r>
              <a:rPr lang="en-ID" dirty="0"/>
              <a:t>Make it a data class and add a variable for the current counter.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E18F0E-9F72-31E5-CCE4-4049FB0484C1}"/>
              </a:ext>
            </a:extLst>
          </p:cNvPr>
          <p:cNvSpPr txBox="1"/>
          <p:nvPr/>
        </p:nvSpPr>
        <p:spPr>
          <a:xfrm>
            <a:off x="1183341" y="4499759"/>
            <a:ext cx="7140388" cy="160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20000"/>
              </a:lnSpc>
              <a:buNone/>
            </a:pPr>
            <a:r>
              <a:rPr lang="en-ID" sz="2800" b="0" dirty="0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data</a:t>
            </a:r>
            <a:r>
              <a:rPr lang="en-ID" sz="28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sz="2800" b="0" dirty="0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class</a:t>
            </a:r>
            <a:r>
              <a:rPr lang="en-ID" sz="28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sz="2800" b="0" dirty="0" err="1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AppUiState</a:t>
            </a:r>
            <a:r>
              <a:rPr lang="en-ID" sz="28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</a:t>
            </a:r>
            <a:br>
              <a:rPr lang="en-ID" sz="28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sz="28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   </a:t>
            </a:r>
            <a:r>
              <a:rPr lang="en-ID" sz="2800" b="0" dirty="0" err="1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val</a:t>
            </a:r>
            <a:r>
              <a:rPr lang="en-ID" sz="28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sz="2800" b="0" dirty="0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counter</a:t>
            </a:r>
            <a:r>
              <a:rPr lang="en-ID" sz="28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: </a:t>
            </a:r>
            <a:r>
              <a:rPr lang="en-ID" sz="2800" b="0" dirty="0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Int</a:t>
            </a:r>
            <a:r>
              <a:rPr lang="en-ID" sz="28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= </a:t>
            </a:r>
            <a:r>
              <a:rPr lang="en-ID" sz="2800" b="0" dirty="0">
                <a:solidFill>
                  <a:srgbClr val="188038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0</a:t>
            </a:r>
            <a:br>
              <a:rPr lang="en-ID" sz="28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sz="28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074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0B2F-0775-CA21-7847-B8BF2D2E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StateFlow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327B1-9D24-D3D2-9E45-4EFCE01C6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sz="2800" dirty="0">
                <a:hlinkClick r:id="rId2"/>
              </a:rPr>
              <a:t>StateFlow</a:t>
            </a:r>
            <a:r>
              <a:rPr lang="en-ID" sz="2800" dirty="0"/>
              <a:t> is a data holder observable flow that emits the current and new state updates. Its </a:t>
            </a:r>
            <a:r>
              <a:rPr lang="en-ID" sz="2800" dirty="0">
                <a:hlinkClick r:id="rId3"/>
              </a:rPr>
              <a:t>value</a:t>
            </a:r>
            <a:r>
              <a:rPr lang="en-ID" sz="2800" dirty="0"/>
              <a:t> property reflects the current state value. </a:t>
            </a:r>
          </a:p>
          <a:p>
            <a:r>
              <a:rPr lang="en-ID" sz="2800" dirty="0"/>
              <a:t>To update state and send it to the flow, assign a new value to the value property of the </a:t>
            </a:r>
            <a:r>
              <a:rPr lang="en-ID" sz="2800" dirty="0">
                <a:hlinkClick r:id="rId4"/>
              </a:rPr>
              <a:t>MutableStateFlow</a:t>
            </a:r>
            <a:r>
              <a:rPr lang="en-ID" sz="2800" dirty="0"/>
              <a:t> class.</a:t>
            </a:r>
          </a:p>
          <a:p>
            <a:r>
              <a:rPr lang="en-ID" sz="2800" dirty="0"/>
              <a:t>In Android, </a:t>
            </a:r>
            <a:r>
              <a:rPr lang="en-ID" sz="2800" dirty="0" err="1"/>
              <a:t>StateFlow</a:t>
            </a:r>
            <a:r>
              <a:rPr lang="en-ID" sz="2800" dirty="0"/>
              <a:t> works well with classes that must maintain an observable immutable state.</a:t>
            </a:r>
          </a:p>
          <a:p>
            <a:r>
              <a:rPr lang="en-ID" sz="2800" dirty="0"/>
              <a:t>A </a:t>
            </a:r>
            <a:r>
              <a:rPr lang="en-ID" sz="2800" dirty="0" err="1"/>
              <a:t>StateFlow</a:t>
            </a:r>
            <a:r>
              <a:rPr lang="en-ID" sz="2800" dirty="0"/>
              <a:t> is exposed from the </a:t>
            </a:r>
            <a:r>
              <a:rPr lang="en-ID" sz="2800" dirty="0" err="1"/>
              <a:t>AppUiState</a:t>
            </a:r>
            <a:r>
              <a:rPr lang="en-ID" sz="2800" dirty="0"/>
              <a:t> so that the </a:t>
            </a:r>
            <a:r>
              <a:rPr lang="en-ID" sz="2800" dirty="0" err="1"/>
              <a:t>composables</a:t>
            </a:r>
            <a:r>
              <a:rPr lang="en-ID" sz="2800" dirty="0"/>
              <a:t> can listen for UI state updates and make the screen state survive configuration changes.</a:t>
            </a:r>
          </a:p>
        </p:txBody>
      </p:sp>
    </p:spTree>
    <p:extLst>
      <p:ext uri="{BB962C8B-B14F-4D97-AF65-F5344CB8AC3E}">
        <p14:creationId xmlns:p14="http://schemas.microsoft.com/office/powerpoint/2010/main" val="351255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CA82-D6FF-5C2F-CA15-1E0A12BA8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Backing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B9A74-F848-B6CD-FD85-24179D1C7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D" dirty="0"/>
              <a:t>A backing property let ViewModel return something from a getter other than the exact object.</a:t>
            </a:r>
          </a:p>
          <a:p>
            <a:r>
              <a:rPr lang="en-ID" dirty="0"/>
              <a:t>For var property, the Kotlin framework generates getters and setters.</a:t>
            </a:r>
          </a:p>
          <a:p>
            <a:r>
              <a:rPr lang="en-ID" dirty="0"/>
              <a:t>For getter and setter methods, one or both of these methods can be overridden and provide a custom </a:t>
            </a:r>
            <a:r>
              <a:rPr lang="en-ID" dirty="0" err="1"/>
              <a:t>behavior</a:t>
            </a:r>
            <a:r>
              <a:rPr lang="en-ID" dirty="0"/>
              <a:t>. </a:t>
            </a:r>
          </a:p>
          <a:p>
            <a:r>
              <a:rPr lang="en-ID" dirty="0"/>
              <a:t>To implement a backing property, override the getter method to return a read-only version of your data.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2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1B8FC-7E67-F32F-9760-B3B3D8DA0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A4D57-12B4-D7AF-02D3-48F70388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Backing Property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75E2D-7717-CB80-5E20-7130AB58C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sz="2800" dirty="0"/>
              <a:t>The following example shows a backing property: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34AF6-77B5-9211-9138-7B7A0F73B2CC}"/>
              </a:ext>
            </a:extLst>
          </p:cNvPr>
          <p:cNvSpPr txBox="1"/>
          <p:nvPr/>
        </p:nvSpPr>
        <p:spPr>
          <a:xfrm>
            <a:off x="1008529" y="2763272"/>
            <a:ext cx="7506819" cy="3026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20000"/>
              </a:lnSpc>
              <a:buNone/>
            </a:pPr>
            <a:r>
              <a:rPr lang="en-ID" sz="1600" b="0" dirty="0">
                <a:solidFill>
                  <a:srgbClr val="B8067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// Declare private mutable variable that can only be modified</a:t>
            </a:r>
            <a:b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sz="1600" b="0" dirty="0">
                <a:solidFill>
                  <a:srgbClr val="B8067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// within the class it is declared.</a:t>
            </a:r>
            <a:b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sz="1600" b="0" dirty="0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private</a:t>
            </a:r>
            <a: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sz="1600" b="0" dirty="0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var</a:t>
            </a:r>
            <a: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sz="1600" b="0" dirty="0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_count</a:t>
            </a:r>
            <a: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= </a:t>
            </a:r>
            <a:r>
              <a:rPr lang="en-ID" sz="1600" b="0" dirty="0">
                <a:solidFill>
                  <a:srgbClr val="C5221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0</a:t>
            </a:r>
            <a: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b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b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sz="1600" b="0" dirty="0">
                <a:solidFill>
                  <a:srgbClr val="B8067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// Declare a public immutable field and override its getter method. </a:t>
            </a:r>
            <a:b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sz="1600" b="0" dirty="0">
                <a:solidFill>
                  <a:srgbClr val="B8067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// Return the private property's value in the getter method.</a:t>
            </a:r>
            <a:b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sz="1600" b="0" dirty="0">
                <a:solidFill>
                  <a:srgbClr val="B8067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// When count is accessed, the get() function is called and</a:t>
            </a:r>
            <a:b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sz="1600" b="0" dirty="0">
                <a:solidFill>
                  <a:srgbClr val="B8067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// the value of _count is returned. </a:t>
            </a:r>
            <a:b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sz="1600" b="0" dirty="0" err="1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val</a:t>
            </a:r>
            <a: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sz="1600" b="0" dirty="0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count</a:t>
            </a:r>
            <a: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: </a:t>
            </a:r>
            <a:r>
              <a:rPr lang="en-ID" sz="1600" b="0" dirty="0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Int</a:t>
            </a:r>
            <a:b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    </a:t>
            </a:r>
            <a:r>
              <a:rPr lang="en-ID" sz="1600" b="0" dirty="0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get</a:t>
            </a:r>
            <a:r>
              <a:rPr lang="en-ID" sz="16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() = _count</a:t>
            </a:r>
          </a:p>
        </p:txBody>
      </p:sp>
    </p:spTree>
    <p:extLst>
      <p:ext uri="{BB962C8B-B14F-4D97-AF65-F5344CB8AC3E}">
        <p14:creationId xmlns:p14="http://schemas.microsoft.com/office/powerpoint/2010/main" val="17008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AFDAE-2622-FF63-D3A8-B996D760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Adding </a:t>
            </a:r>
            <a:r>
              <a:rPr lang="en-US" dirty="0" err="1"/>
              <a:t>StateFlow</a:t>
            </a:r>
            <a:r>
              <a:rPr lang="en-US" dirty="0"/>
              <a:t> in ViewModel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BE18A-127F-3688-A707-0A896D3E4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In the </a:t>
            </a:r>
            <a:r>
              <a:rPr lang="en-US" sz="2800" dirty="0" err="1"/>
              <a:t>AppViewModel</a:t>
            </a:r>
            <a:r>
              <a:rPr lang="en-US" sz="2800" dirty="0"/>
              <a:t> class, add the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_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uiState</a:t>
            </a:r>
            <a:r>
              <a:rPr lang="en-US" sz="2800" dirty="0"/>
              <a:t> property and </a:t>
            </a:r>
            <a:r>
              <a:rPr lang="en-US" sz="2800" dirty="0" err="1"/>
              <a:t>uiState</a:t>
            </a:r>
            <a:r>
              <a:rPr lang="en-US" sz="2800" dirty="0"/>
              <a:t> backing property.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134A6-6D80-6644-DCCF-85AFD58CBF31}"/>
              </a:ext>
            </a:extLst>
          </p:cNvPr>
          <p:cNvSpPr txBox="1"/>
          <p:nvPr/>
        </p:nvSpPr>
        <p:spPr>
          <a:xfrm>
            <a:off x="911039" y="3231452"/>
            <a:ext cx="7886700" cy="2208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20000"/>
              </a:lnSpc>
              <a:buNone/>
            </a:pPr>
            <a:r>
              <a:rPr lang="en-ID" sz="2000" b="0" dirty="0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import</a:t>
            </a:r>
            <a:r>
              <a:rPr lang="en-ID" sz="20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sz="2000" b="0" dirty="0" err="1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kotlinx.coroutines.flow.MutableStateFlow</a:t>
            </a:r>
            <a:br>
              <a:rPr lang="en-ID" sz="20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br>
              <a:rPr lang="en-ID" sz="20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sz="2000" b="0" dirty="0">
                <a:solidFill>
                  <a:srgbClr val="B8067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// App UI state</a:t>
            </a:r>
            <a:br>
              <a:rPr lang="en-ID" sz="20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b="0" dirty="0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private</a:t>
            </a:r>
            <a:r>
              <a:rPr lang="en-ID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b="0" dirty="0" err="1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val</a:t>
            </a:r>
            <a:r>
              <a:rPr lang="en-ID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b="0" dirty="0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_</a:t>
            </a:r>
            <a:r>
              <a:rPr lang="en-ID" b="0" dirty="0" err="1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uiState</a:t>
            </a:r>
            <a:r>
              <a:rPr lang="en-ID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= </a:t>
            </a:r>
            <a:r>
              <a:rPr lang="en-ID" b="0" dirty="0" err="1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MutableStateFlow</a:t>
            </a:r>
            <a:r>
              <a:rPr lang="en-ID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</a:t>
            </a:r>
            <a:r>
              <a:rPr lang="en-ID" dirty="0" err="1">
                <a:solidFill>
                  <a:srgbClr val="9334E6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App</a:t>
            </a:r>
            <a:r>
              <a:rPr lang="en-ID" b="0" dirty="0" err="1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UiState</a:t>
            </a:r>
            <a:r>
              <a:rPr lang="en-ID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())</a:t>
            </a:r>
            <a:br>
              <a:rPr lang="en-ID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b="0" dirty="0" err="1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val</a:t>
            </a:r>
            <a:r>
              <a:rPr lang="en-ID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b="0" dirty="0" err="1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uiState</a:t>
            </a:r>
            <a:r>
              <a:rPr lang="en-ID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: </a:t>
            </a:r>
            <a:r>
              <a:rPr lang="en-ID" b="0" dirty="0" err="1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StateFlow</a:t>
            </a:r>
            <a:r>
              <a:rPr lang="en-ID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&lt;</a:t>
            </a:r>
            <a:r>
              <a:rPr lang="en-ID" b="0" dirty="0" err="1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AppUiState</a:t>
            </a:r>
            <a:r>
              <a:rPr lang="en-ID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&gt; = _</a:t>
            </a:r>
            <a:r>
              <a:rPr lang="en-ID" b="0" dirty="0" err="1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uiState.</a:t>
            </a:r>
            <a:r>
              <a:rPr lang="en-ID" b="0" dirty="0" err="1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asStateFlow</a:t>
            </a:r>
            <a:r>
              <a:rPr lang="en-ID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()</a:t>
            </a:r>
          </a:p>
          <a:p>
            <a:pPr algn="l" rtl="0">
              <a:lnSpc>
                <a:spcPct val="120000"/>
              </a:lnSpc>
              <a:buNone/>
            </a:pPr>
            <a:endParaRPr lang="en-ID" sz="2000" b="0" dirty="0">
              <a:solidFill>
                <a:srgbClr val="37474F"/>
              </a:solidFill>
              <a:effectLst/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08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9977C-BBF8-B7C1-D3C2-6EF042FFE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Adding </a:t>
            </a:r>
            <a:r>
              <a:rPr lang="en-US" dirty="0" err="1"/>
              <a:t>init</a:t>
            </a:r>
            <a:r>
              <a:rPr lang="en-US" dirty="0"/>
              <a:t>() and reset()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5C6D9-6052-2F03-A12C-EBBF6EBA7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// Reset when ViewModel is </a:t>
            </a:r>
            <a:r>
              <a:rPr lang="en-ID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instatiated</a:t>
            </a:r>
            <a:endParaRPr lang="en-ID" sz="2400" dirty="0">
              <a:solidFill>
                <a:schemeClr val="tx1">
                  <a:lumMod val="50000"/>
                  <a:lumOff val="50000"/>
                </a:schemeClr>
              </a:solidFill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 err="1">
                <a:solidFill>
                  <a:srgbClr val="9334E6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init</a:t>
            </a:r>
            <a:r>
              <a:rPr lang="en-ID" sz="2400" dirty="0">
                <a:solidFill>
                  <a:srgbClr val="37474F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solidFill>
                  <a:srgbClr val="9334E6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	reset</a:t>
            </a:r>
            <a:r>
              <a:rPr lang="en-ID" sz="2400" dirty="0">
                <a:solidFill>
                  <a:srgbClr val="37474F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()</a:t>
            </a:r>
            <a:endParaRPr lang="en-ID" sz="2400" b="0" dirty="0">
              <a:solidFill>
                <a:srgbClr val="1967D2"/>
              </a:solidFill>
              <a:effectLst/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solidFill>
                  <a:srgbClr val="37474F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}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  <a:buNone/>
            </a:pPr>
            <a:endParaRPr lang="en-ID" sz="2400" dirty="0">
              <a:solidFill>
                <a:srgbClr val="1967D2"/>
              </a:solidFill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// Reset the counter</a:t>
            </a:r>
            <a:endParaRPr lang="en-ID" sz="2400" dirty="0">
              <a:solidFill>
                <a:srgbClr val="1967D2"/>
              </a:solidFill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b="0" dirty="0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fun</a:t>
            </a:r>
            <a:r>
              <a:rPr lang="en-ID" sz="24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sz="2400" b="0" dirty="0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reset</a:t>
            </a:r>
            <a:r>
              <a:rPr lang="en-ID" sz="24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() {</a:t>
            </a:r>
            <a:br>
              <a:rPr lang="en-ID" sz="24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</a:br>
            <a:r>
              <a:rPr lang="en-ID" sz="24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_</a:t>
            </a:r>
            <a:r>
              <a:rPr lang="en-ID" sz="2400" b="0" dirty="0" err="1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uiState.</a:t>
            </a:r>
            <a:r>
              <a:rPr lang="en-ID" sz="2400" b="0" dirty="0" err="1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value</a:t>
            </a:r>
            <a:r>
              <a:rPr lang="en-ID" sz="24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= </a:t>
            </a:r>
            <a:r>
              <a:rPr lang="en-ID" sz="2400" dirty="0" err="1">
                <a:solidFill>
                  <a:srgbClr val="9334E6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App</a:t>
            </a:r>
            <a:r>
              <a:rPr lang="en-ID" sz="2400" b="0" dirty="0" err="1">
                <a:solidFill>
                  <a:srgbClr val="9334E6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UiState</a:t>
            </a:r>
            <a:r>
              <a:rPr lang="en-ID" sz="24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(counter = 0)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400" dirty="0"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468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93EEA-CA14-988A-71C0-DD4A3BA55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8C89-2D2D-B9E1-1513-DADCAC532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Adding </a:t>
            </a:r>
            <a:r>
              <a:rPr lang="en-US" dirty="0" err="1"/>
              <a:t>addCounter</a:t>
            </a:r>
            <a:r>
              <a:rPr lang="en-US" dirty="0"/>
              <a:t>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C2316-F592-01AB-268C-842114A2E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6"/>
            <a:ext cx="8165726" cy="466724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// Get state counter value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// and update the state with a new counter value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1967D2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fun</a:t>
            </a:r>
            <a:r>
              <a:rPr lang="en-US" sz="24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US" sz="2600" dirty="0" err="1">
                <a:solidFill>
                  <a:srgbClr val="9334E6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addCounter</a:t>
            </a:r>
            <a:r>
              <a:rPr lang="en-US" sz="24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</a:t>
            </a:r>
            <a:r>
              <a:rPr lang="en-US" sz="2600" dirty="0" err="1">
                <a:solidFill>
                  <a:srgbClr val="1967D2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val</a:t>
            </a:r>
            <a:r>
              <a:rPr lang="en-US" sz="24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count = _</a:t>
            </a:r>
            <a:r>
              <a:rPr lang="en-US" sz="2400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uiState.</a:t>
            </a:r>
            <a:r>
              <a:rPr lang="en-US" sz="2600" dirty="0" err="1">
                <a:solidFill>
                  <a:srgbClr val="9334E6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value</a:t>
            </a:r>
            <a:r>
              <a:rPr lang="en-US" sz="2400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.</a:t>
            </a:r>
            <a:r>
              <a:rPr lang="en-US" sz="2600" dirty="0" err="1">
                <a:solidFill>
                  <a:srgbClr val="9334E6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counter</a:t>
            </a:r>
            <a:r>
              <a:rPr lang="en-US" sz="24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+ 1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_</a:t>
            </a:r>
            <a:r>
              <a:rPr lang="en-US" sz="2400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uiState.</a:t>
            </a:r>
            <a:r>
              <a:rPr lang="en-US" sz="2600" dirty="0" err="1">
                <a:solidFill>
                  <a:srgbClr val="9334E6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update</a:t>
            </a:r>
            <a:r>
              <a:rPr lang="en-US" sz="24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  </a:t>
            </a:r>
            <a:r>
              <a:rPr lang="en-US" sz="2400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currentState</a:t>
            </a:r>
            <a:r>
              <a:rPr lang="en-US" sz="24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-&gt; </a:t>
            </a:r>
            <a:r>
              <a:rPr lang="en-US" sz="2400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currentState.</a:t>
            </a:r>
            <a:r>
              <a:rPr lang="en-US" sz="2600" dirty="0" err="1">
                <a:solidFill>
                  <a:srgbClr val="9334E6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copy</a:t>
            </a:r>
            <a:r>
              <a:rPr lang="en-US" sz="24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    counter = count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  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589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6606-E826-F9F5-7FC0-2F9943FB8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Architecting Compose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69724-7B69-0C7B-3CD7-34CB858CC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4667249"/>
          </a:xfrm>
        </p:spPr>
        <p:txBody>
          <a:bodyPr>
            <a:normAutofit/>
          </a:bodyPr>
          <a:lstStyle/>
          <a:p>
            <a:r>
              <a:rPr lang="en-ID" dirty="0"/>
              <a:t>In Compose, the only way to update the UI is by changing the state of the app. </a:t>
            </a:r>
          </a:p>
          <a:p>
            <a:r>
              <a:rPr lang="en-ID" dirty="0"/>
              <a:t>What to control is the UI state. </a:t>
            </a:r>
          </a:p>
          <a:p>
            <a:r>
              <a:rPr lang="en-ID" dirty="0"/>
              <a:t>Every time the state of the UI changes, Compose recreates the parts of the UI tree that changed.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85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01122-BC9E-33C7-CDF2-F45F8C850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8499E-4262-9E4D-A36C-73460B44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Architecting Compose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9AC99-46B2-7F3A-EB0C-6062071B8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385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800" dirty="0" err="1"/>
              <a:t>Composables</a:t>
            </a:r>
            <a:r>
              <a:rPr lang="en-ID" sz="2800" dirty="0"/>
              <a:t> can accept state and expose events, for example, a </a:t>
            </a:r>
            <a:r>
              <a:rPr lang="en-ID" sz="2800" dirty="0" err="1"/>
              <a:t>TextField</a:t>
            </a:r>
            <a:r>
              <a:rPr lang="en-ID" sz="2800" dirty="0"/>
              <a:t>/</a:t>
            </a:r>
            <a:r>
              <a:rPr lang="en-ID" sz="2800" dirty="0" err="1"/>
              <a:t>OutlinedTextField</a:t>
            </a:r>
            <a:r>
              <a:rPr lang="en-ID" sz="2800" dirty="0"/>
              <a:t> accepts a value and exposes a callback </a:t>
            </a:r>
            <a:r>
              <a:rPr lang="en-ID" sz="2800" dirty="0" err="1"/>
              <a:t>onValueChange</a:t>
            </a:r>
            <a:r>
              <a:rPr lang="en-ID" sz="2800" dirty="0"/>
              <a:t> that requests the callback handler to change the value.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8254C4-0990-0DA5-1F23-1AC57C9EB1DB}"/>
              </a:ext>
            </a:extLst>
          </p:cNvPr>
          <p:cNvSpPr txBox="1"/>
          <p:nvPr/>
        </p:nvSpPr>
        <p:spPr>
          <a:xfrm>
            <a:off x="1159807" y="3977264"/>
            <a:ext cx="7597589" cy="2282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7030A0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var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name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US" sz="2000" dirty="0">
                <a:solidFill>
                  <a:srgbClr val="7030A0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by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remember { 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mutableStateOf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""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) }</a:t>
            </a:r>
          </a:p>
          <a:p>
            <a:pPr>
              <a:lnSpc>
                <a:spcPct val="120000"/>
              </a:lnSpc>
            </a:pPr>
            <a:r>
              <a:rPr lang="en-US" sz="2000" dirty="0" err="1">
                <a:solidFill>
                  <a:schemeClr val="accent1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OutlinedTextField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value = name,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onValueChange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= { name = </a:t>
            </a:r>
            <a:r>
              <a:rPr lang="en-US" sz="2000" dirty="0">
                <a:solidFill>
                  <a:schemeClr val="accent1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it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},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label = { </a:t>
            </a:r>
            <a:r>
              <a:rPr lang="en-US" sz="2000" dirty="0">
                <a:solidFill>
                  <a:schemeClr val="accent1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Text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"Name"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) }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9669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3F70-8AE6-DED4-EA28-A72802713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Unidirectional Data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00786-8E08-588A-6C75-C8D30AD02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6"/>
            <a:ext cx="4118162" cy="4667249"/>
          </a:xfrm>
        </p:spPr>
        <p:txBody>
          <a:bodyPr>
            <a:normAutofit/>
          </a:bodyPr>
          <a:lstStyle/>
          <a:p>
            <a:r>
              <a:rPr lang="en-ID" sz="2400" dirty="0"/>
              <a:t>A </a:t>
            </a:r>
            <a:r>
              <a:rPr lang="en-ID" sz="2400" i="1" dirty="0"/>
              <a:t>unidirectional data flow</a:t>
            </a:r>
            <a:r>
              <a:rPr lang="en-ID" sz="2400" dirty="0"/>
              <a:t> (UDF) is a design pattern in which state flows down and events flow up. </a:t>
            </a:r>
          </a:p>
          <a:p>
            <a:r>
              <a:rPr lang="en-ID" sz="2400" dirty="0"/>
              <a:t>By following unidirectional data flow, </a:t>
            </a:r>
            <a:r>
              <a:rPr lang="en-ID" sz="2400" dirty="0" err="1"/>
              <a:t>composables</a:t>
            </a:r>
            <a:r>
              <a:rPr lang="en-ID" sz="2400" dirty="0"/>
              <a:t> can be decoupled that display state in the UI from the parts of your app that store and change state.</a:t>
            </a:r>
          </a:p>
          <a:p>
            <a:endParaRPr lang="en-US" sz="24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0A95B77-4183-9B46-0778-7CD3C912C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479" y="1825626"/>
            <a:ext cx="3895486" cy="2732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6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CF7BD-BF6F-83CC-3054-51B40B95F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C82F9-2587-BA68-A3DB-DE0F40E9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Unidirectional Data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7DDE7-BDBC-18A2-A0A8-A533BB26B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2800" dirty="0"/>
              <a:t>The UI update loop for an app using unidirectional data flow looks like the following:</a:t>
            </a:r>
          </a:p>
          <a:p>
            <a:pPr lvl="1"/>
            <a:r>
              <a:rPr lang="en-ID" sz="2400" b="1" dirty="0"/>
              <a:t>Event:</a:t>
            </a:r>
            <a:r>
              <a:rPr lang="en-ID" sz="2400" dirty="0"/>
              <a:t> Part of the UI generates an event and passes it upward—such as a button click passed to the ViewModel to handle—or an event that is passed from other layers of the app, such as an indication that the user session has expired.</a:t>
            </a:r>
          </a:p>
          <a:p>
            <a:pPr lvl="1"/>
            <a:r>
              <a:rPr lang="en-ID" sz="2400" b="1" dirty="0"/>
              <a:t>Update state:</a:t>
            </a:r>
            <a:r>
              <a:rPr lang="en-ID" sz="2400" dirty="0"/>
              <a:t> An event handler might change the state.</a:t>
            </a:r>
          </a:p>
          <a:p>
            <a:pPr lvl="1"/>
            <a:r>
              <a:rPr lang="en-ID" sz="2400" b="1" dirty="0"/>
              <a:t>Display state:</a:t>
            </a:r>
            <a:r>
              <a:rPr lang="en-ID" sz="2400" dirty="0"/>
              <a:t> The state holder passes down the state, and the UI displays it.</a:t>
            </a:r>
          </a:p>
        </p:txBody>
      </p:sp>
    </p:spTree>
    <p:extLst>
      <p:ext uri="{BB962C8B-B14F-4D97-AF65-F5344CB8AC3E}">
        <p14:creationId xmlns:p14="http://schemas.microsoft.com/office/powerpoint/2010/main" val="122642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E2D19-6DCB-523B-CD82-7A2ABDFD8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7E17-AEE0-0416-A9A3-BC9629D3B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UDF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ACDD1-C4A0-FDE9-212A-DF7B11DD6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4667249"/>
          </a:xfrm>
        </p:spPr>
        <p:txBody>
          <a:bodyPr>
            <a:normAutofit fontScale="92500" lnSpcReduction="10000"/>
          </a:bodyPr>
          <a:lstStyle/>
          <a:p>
            <a:r>
              <a:rPr lang="en-ID" sz="2800" dirty="0"/>
              <a:t>The ViewModel holds and exposes the state the UI consumes.</a:t>
            </a:r>
          </a:p>
          <a:p>
            <a:r>
              <a:rPr lang="en-ID" sz="2800" dirty="0"/>
              <a:t>The UI state is application data transformed by the ViewModel.</a:t>
            </a:r>
          </a:p>
          <a:p>
            <a:r>
              <a:rPr lang="en-ID" sz="2800" dirty="0"/>
              <a:t>The UI notifies the ViewModel of user events.</a:t>
            </a:r>
          </a:p>
          <a:p>
            <a:r>
              <a:rPr lang="en-ID" sz="2800" dirty="0"/>
              <a:t>The ViewModel handles the user actions and updates the state.</a:t>
            </a:r>
          </a:p>
          <a:p>
            <a:r>
              <a:rPr lang="en-ID" sz="2800" dirty="0"/>
              <a:t>The </a:t>
            </a:r>
            <a:r>
              <a:rPr lang="en-ID" sz="2800" dirty="0">
                <a:solidFill>
                  <a:schemeClr val="accent5">
                    <a:lumMod val="75000"/>
                  </a:schemeClr>
                </a:solidFill>
              </a:rPr>
              <a:t>updated</a:t>
            </a:r>
            <a:r>
              <a:rPr lang="en-ID" sz="2800" dirty="0"/>
              <a:t> state is fed back to the UI to render.</a:t>
            </a:r>
          </a:p>
          <a:p>
            <a:r>
              <a:rPr lang="en-ID" sz="2800" dirty="0"/>
              <a:t>This process repeats for any event that causes a mutation of state.</a:t>
            </a:r>
          </a:p>
        </p:txBody>
      </p:sp>
    </p:spTree>
    <p:extLst>
      <p:ext uri="{BB962C8B-B14F-4D97-AF65-F5344CB8AC3E}">
        <p14:creationId xmlns:p14="http://schemas.microsoft.com/office/powerpoint/2010/main" val="345695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49657-DB65-0FBC-4375-7970CF37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9CA47-EE50-90D1-4460-FB7AC3B6A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Pass the ViewModel instance to the UI–that is, from the </a:t>
            </a:r>
            <a:r>
              <a:rPr lang="en-ID" dirty="0" err="1">
                <a:solidFill>
                  <a:schemeClr val="accent5">
                    <a:lumMod val="75000"/>
                  </a:schemeClr>
                </a:solidFill>
              </a:rPr>
              <a:t>AppViewModel</a:t>
            </a:r>
            <a:r>
              <a:rPr lang="en-ID" dirty="0"/>
              <a:t> to the </a:t>
            </a:r>
            <a:r>
              <a:rPr lang="en-ID" dirty="0" err="1"/>
              <a:t>AppScreen</a:t>
            </a:r>
            <a:r>
              <a:rPr lang="en-ID" dirty="0"/>
              <a:t>() composable.</a:t>
            </a:r>
          </a:p>
          <a:p>
            <a:r>
              <a:rPr lang="en-ID" dirty="0"/>
              <a:t>In the </a:t>
            </a:r>
            <a:r>
              <a:rPr lang="en-ID" dirty="0" err="1"/>
              <a:t>AppScreen</a:t>
            </a:r>
            <a:r>
              <a:rPr lang="en-ID" dirty="0"/>
              <a:t>(), use the ViewModel instance to access the </a:t>
            </a:r>
            <a:r>
              <a:rPr lang="en-ID" dirty="0" err="1">
                <a:solidFill>
                  <a:schemeClr val="accent5">
                    <a:lumMod val="75000"/>
                  </a:schemeClr>
                </a:solidFill>
              </a:rPr>
              <a:t>uiState</a:t>
            </a:r>
            <a:r>
              <a:rPr lang="en-ID" dirty="0"/>
              <a:t> using </a:t>
            </a:r>
            <a:r>
              <a:rPr lang="en-ID" dirty="0" err="1"/>
              <a:t>collectAsState</a:t>
            </a:r>
            <a:r>
              <a:rPr lang="en-ID" dirty="0"/>
              <a:t>().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4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00B3E-EC80-1C96-2A23-271BCD18C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D8EFF-6512-38CB-1B09-689713134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1321"/>
          </a:xfrm>
        </p:spPr>
        <p:txBody>
          <a:bodyPr>
            <a:normAutofit fontScale="90000"/>
          </a:bodyPr>
          <a:lstStyle/>
          <a:p>
            <a:r>
              <a:rPr lang="en-US" dirty="0"/>
              <a:t>Passing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60FD5-0424-BE2C-7D58-CEDD221F8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5121275"/>
          </a:xfrm>
        </p:spPr>
        <p:txBody>
          <a:bodyPr>
            <a:normAutofit/>
          </a:bodyPr>
          <a:lstStyle/>
          <a:p>
            <a:pPr marL="360363" indent="-347663" algn="l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200" b="0" dirty="0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import</a:t>
            </a:r>
            <a:r>
              <a:rPr lang="en-ID" sz="22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sz="2200" b="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androidx.lifecycle.viewmodel.compose.viewModel</a:t>
            </a:r>
            <a:endParaRPr lang="en-ID" sz="2200" dirty="0">
              <a:solidFill>
                <a:schemeClr val="tx2">
                  <a:lumMod val="60000"/>
                  <a:lumOff val="40000"/>
                </a:schemeClr>
              </a:solidFill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 marL="360363" indent="-347663" algn="l" rtl="0">
              <a:lnSpc>
                <a:spcPct val="120000"/>
              </a:lnSpc>
              <a:spcBef>
                <a:spcPts val="0"/>
              </a:spcBef>
              <a:buNone/>
            </a:pPr>
            <a:endParaRPr lang="en-ID" sz="2200" b="0" dirty="0">
              <a:solidFill>
                <a:srgbClr val="37474F"/>
              </a:solidFill>
              <a:effectLst/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 marL="360363" indent="-347663" algn="l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200" b="0" dirty="0">
                <a:solidFill>
                  <a:srgbClr val="C5221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@Composable</a:t>
            </a:r>
            <a:endParaRPr lang="en-ID" sz="2200" dirty="0">
              <a:solidFill>
                <a:srgbClr val="37474F"/>
              </a:solidFill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 marL="360363" indent="-347663" algn="l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200" b="0" dirty="0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fun</a:t>
            </a:r>
            <a:r>
              <a:rPr lang="en-ID" sz="22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sz="22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App</a:t>
            </a:r>
            <a:r>
              <a:rPr lang="en-ID" sz="2200" b="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Screen</a:t>
            </a:r>
            <a:r>
              <a:rPr lang="en-ID" sz="22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</a:t>
            </a:r>
            <a:endParaRPr lang="en-ID" sz="2200" dirty="0">
              <a:solidFill>
                <a:srgbClr val="37474F"/>
              </a:solidFill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 marL="360363" indent="-347663" algn="l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2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</a:t>
            </a:r>
            <a:r>
              <a:rPr lang="en-ID" sz="2200" b="0" dirty="0" err="1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appViewModel</a:t>
            </a:r>
            <a:r>
              <a:rPr lang="en-ID" sz="22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: </a:t>
            </a:r>
            <a:r>
              <a:rPr lang="en-ID" sz="2200" b="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AppViewModel</a:t>
            </a:r>
            <a:r>
              <a:rPr lang="en-ID" sz="22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= </a:t>
            </a:r>
            <a:r>
              <a:rPr lang="en-ID" sz="2200" b="0" dirty="0" err="1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viewModel</a:t>
            </a:r>
            <a:r>
              <a:rPr lang="en-ID" sz="22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()</a:t>
            </a:r>
          </a:p>
          <a:p>
            <a:pPr marL="360363" indent="-347663" algn="l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2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) {</a:t>
            </a:r>
          </a:p>
          <a:p>
            <a:pPr marL="360363" indent="-347663" algn="l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200" dirty="0">
                <a:solidFill>
                  <a:srgbClr val="37474F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</a:t>
            </a:r>
            <a:r>
              <a:rPr lang="en-ID" sz="2200" b="0" dirty="0" err="1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val</a:t>
            </a:r>
            <a:r>
              <a:rPr lang="en-ID" sz="22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sz="22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app</a:t>
            </a:r>
            <a:r>
              <a:rPr lang="en-ID" sz="2200" b="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UiState</a:t>
            </a:r>
            <a:r>
              <a:rPr lang="en-ID" sz="22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</a:t>
            </a:r>
            <a:r>
              <a:rPr lang="en-ID" sz="2200" b="0" dirty="0">
                <a:solidFill>
                  <a:srgbClr val="1967D2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by</a:t>
            </a:r>
            <a:r>
              <a:rPr lang="en-ID" sz="2200" dirty="0">
                <a:solidFill>
                  <a:srgbClr val="37474F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 </a:t>
            </a:r>
          </a:p>
          <a:p>
            <a:pPr marL="360363" indent="-347663" algn="l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2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  </a:t>
            </a:r>
            <a:r>
              <a:rPr lang="en-ID" sz="2200" b="0" dirty="0" err="1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appViewModel.</a:t>
            </a:r>
            <a:r>
              <a:rPr lang="en-ID" sz="2200" b="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uiState</a:t>
            </a:r>
            <a:r>
              <a:rPr lang="en-ID" sz="2200" b="0" dirty="0" err="1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.</a:t>
            </a:r>
            <a:r>
              <a:rPr lang="en-ID" sz="2200" b="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collectAsState</a:t>
            </a:r>
            <a:r>
              <a:rPr lang="en-ID" sz="22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()</a:t>
            </a:r>
          </a:p>
          <a:p>
            <a:pPr marL="360363"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200" dirty="0">
                <a:solidFill>
                  <a:srgbClr val="37474F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</a:t>
            </a: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Text</a:t>
            </a: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</a:t>
            </a:r>
            <a:r>
              <a:rPr lang="en-US" sz="2200" dirty="0">
                <a:solidFill>
                  <a:srgbClr val="1967D2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text</a:t>
            </a: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= </a:t>
            </a:r>
            <a:r>
              <a:rPr lang="en-US" sz="2200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appUiState.</a:t>
            </a:r>
            <a:r>
              <a:rPr lang="en-US" sz="22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counter</a:t>
            </a:r>
            <a:r>
              <a:rPr lang="en-US" sz="2200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.</a:t>
            </a:r>
            <a:r>
              <a:rPr lang="en-US" sz="22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toString</a:t>
            </a: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()</a:t>
            </a: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)</a:t>
            </a:r>
          </a:p>
          <a:p>
            <a:pPr marL="360363"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200" dirty="0">
                <a:solidFill>
                  <a:srgbClr val="37474F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...</a:t>
            </a:r>
          </a:p>
          <a:p>
            <a:pPr marL="360363" indent="-347663" algn="l" rtl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2200" b="0" dirty="0">
                <a:solidFill>
                  <a:srgbClr val="37474F"/>
                </a:solidFill>
                <a:effectLst/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}</a:t>
            </a:r>
          </a:p>
          <a:p>
            <a:pPr marL="360363" indent="-347663">
              <a:lnSpc>
                <a:spcPct val="120000"/>
              </a:lnSpc>
              <a:spcBef>
                <a:spcPts val="0"/>
              </a:spcBef>
            </a:pPr>
            <a:endParaRPr lang="en-US" sz="2200" dirty="0"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57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534C7-F663-8A9C-59CE-EFF47F4DE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7712-F624-8902-FACA-B1482F075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Event  to ViewModel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EF7CC-C074-82A7-E01A-88D4ACF6F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7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...</a:t>
            </a:r>
          </a:p>
          <a:p>
            <a:pPr marL="1270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200" dirty="0"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 marL="127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Button</a:t>
            </a: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</a:t>
            </a:r>
            <a:r>
              <a:rPr lang="en-US" sz="2200" dirty="0" err="1">
                <a:solidFill>
                  <a:srgbClr val="0070C0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onClick</a:t>
            </a: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= { </a:t>
            </a:r>
            <a:r>
              <a:rPr lang="en-US" sz="2200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appViewModel.</a:t>
            </a:r>
            <a:r>
              <a:rPr lang="en-US" sz="22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addCounter</a:t>
            </a: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() }) {</a:t>
            </a:r>
          </a:p>
          <a:p>
            <a:pPr marL="127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</a:t>
            </a: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Text</a:t>
            </a: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</a:t>
            </a:r>
            <a:r>
              <a:rPr lang="en-US" sz="2200" dirty="0">
                <a:solidFill>
                  <a:schemeClr val="accent4">
                    <a:lumMod val="75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"Add Counter"</a:t>
            </a: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)</a:t>
            </a:r>
          </a:p>
          <a:p>
            <a:pPr marL="127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}</a:t>
            </a:r>
          </a:p>
          <a:p>
            <a:pPr marL="1270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200" dirty="0"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 marL="127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Button</a:t>
            </a: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</a:t>
            </a:r>
            <a:r>
              <a:rPr lang="en-US" sz="2200" dirty="0" err="1">
                <a:solidFill>
                  <a:srgbClr val="0070C0"/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onClick</a:t>
            </a: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= { </a:t>
            </a:r>
            <a:r>
              <a:rPr lang="en-US" sz="2200" dirty="0" err="1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appViewModel.</a:t>
            </a:r>
            <a:r>
              <a:rPr lang="en-US" sz="22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reset</a:t>
            </a: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() }) {</a:t>
            </a:r>
          </a:p>
          <a:p>
            <a:pPr marL="127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  </a:t>
            </a: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Text</a:t>
            </a: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(</a:t>
            </a:r>
            <a:r>
              <a:rPr lang="en-US" sz="2200" dirty="0">
                <a:solidFill>
                  <a:schemeClr val="accent4">
                    <a:lumMod val="75000"/>
                  </a:schemeClr>
                </a:solidFill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"Reset"</a:t>
            </a: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)</a:t>
            </a:r>
          </a:p>
          <a:p>
            <a:pPr marL="127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}</a:t>
            </a:r>
          </a:p>
          <a:p>
            <a:pPr marL="1270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200" dirty="0">
              <a:latin typeface="Noto Sans Mono Condensed Condensed" panose="020B0509040504020204" pitchFamily="49" charset="0"/>
              <a:ea typeface="Noto Sans Mono Condensed Condensed" panose="020B0509040504020204" pitchFamily="49" charset="0"/>
              <a:cs typeface="Noto Sans Mono Condensed Condensed" panose="020B0509040504020204" pitchFamily="49" charset="0"/>
            </a:endParaRPr>
          </a:p>
          <a:p>
            <a:pPr marL="127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>
                <a:latin typeface="Noto Sans Mono Condensed Condensed" panose="020B0509040504020204" pitchFamily="49" charset="0"/>
                <a:ea typeface="Noto Sans Mono Condensed Condensed" panose="020B0509040504020204" pitchFamily="49" charset="0"/>
                <a:cs typeface="Noto Sans Mono Condensed Condensed" panose="020B050904050402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77141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C44587-59CE-F3B0-2026-9E58308BC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670" y="673542"/>
            <a:ext cx="4222377" cy="8953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8FEDA1-80E1-5713-1EA3-02B28D71F792}"/>
              </a:ext>
            </a:extLst>
          </p:cNvPr>
          <p:cNvSpPr txBox="1"/>
          <p:nvPr/>
        </p:nvSpPr>
        <p:spPr>
          <a:xfrm>
            <a:off x="5234268" y="1407476"/>
            <a:ext cx="35735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7013" indent="-227013">
              <a:buFont typeface="Arial" panose="020B0604020202020204" pitchFamily="34" charset="0"/>
              <a:buChar char="•"/>
            </a:pPr>
            <a:r>
              <a:rPr lang="en-ID" sz="2400" dirty="0"/>
              <a:t>Click Add Counter to increase the counter</a:t>
            </a:r>
          </a:p>
          <a:p>
            <a:pPr marL="227013" indent="-227013">
              <a:buFont typeface="Arial" panose="020B0604020202020204" pitchFamily="34" charset="0"/>
              <a:buChar char="•"/>
            </a:pPr>
            <a:r>
              <a:rPr lang="en-ID" sz="2400" dirty="0"/>
              <a:t>Click Reset to reset the counter to zero</a:t>
            </a:r>
          </a:p>
        </p:txBody>
      </p:sp>
    </p:spTree>
    <p:extLst>
      <p:ext uri="{BB962C8B-B14F-4D97-AF65-F5344CB8AC3E}">
        <p14:creationId xmlns:p14="http://schemas.microsoft.com/office/powerpoint/2010/main" val="207165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48886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14:reveal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EC4D-32EF-420F-255C-E61D05412E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E6A84A-527C-F127-F36C-CEE540391E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4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053CC-BB61-3ACB-4E31-6374B495A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827415-3E1E-E8AE-B861-711C412F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93BCF0-4E68-8931-6EF6-B1AF0500B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Buat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form input data </a:t>
            </a:r>
            <a:r>
              <a:rPr lang="en-US" sz="2400" dirty="0" err="1"/>
              <a:t>menggunakan</a:t>
            </a:r>
            <a:r>
              <a:rPr lang="en-US" sz="2400" dirty="0"/>
              <a:t> Jetpack Compose.</a:t>
            </a:r>
          </a:p>
          <a:p>
            <a:pPr lvl="1"/>
            <a:r>
              <a:rPr lang="en-US" sz="2400" dirty="0" err="1"/>
              <a:t>Dianjurkan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/</a:t>
            </a:r>
            <a:r>
              <a:rPr lang="en-US" sz="2400" dirty="0" err="1"/>
              <a:t>membuat</a:t>
            </a:r>
            <a:r>
              <a:rPr lang="en-US" sz="2400" dirty="0"/>
              <a:t> form yang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project </a:t>
            </a:r>
            <a:r>
              <a:rPr lang="en-US" sz="2400" dirty="0" err="1"/>
              <a:t>akhir</a:t>
            </a:r>
            <a:r>
              <a:rPr lang="en-US" sz="2400" dirty="0"/>
              <a:t> </a:t>
            </a:r>
            <a:r>
              <a:rPr lang="en-US" sz="2400" dirty="0" err="1"/>
              <a:t>mata</a:t>
            </a:r>
            <a:r>
              <a:rPr lang="en-US" sz="2400" dirty="0"/>
              <a:t> </a:t>
            </a:r>
            <a:r>
              <a:rPr lang="en-US" sz="2400" dirty="0" err="1"/>
              <a:t>kuliah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Buatlah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mekanisme</a:t>
            </a:r>
            <a:r>
              <a:rPr lang="en-US" sz="2400" dirty="0"/>
              <a:t> </a:t>
            </a:r>
            <a:r>
              <a:rPr lang="en-US" sz="2400" dirty="0" err="1"/>
              <a:t>validasi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input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ViewModel</a:t>
            </a:r>
          </a:p>
          <a:p>
            <a:r>
              <a:rPr lang="en-US" sz="2400" dirty="0" err="1"/>
              <a:t>Buat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proses/submit data di mana data yang </a:t>
            </a:r>
            <a:r>
              <a:rPr lang="en-US" sz="2400" dirty="0" err="1"/>
              <a:t>dimasukkan</a:t>
            </a:r>
            <a:r>
              <a:rPr lang="en-US" sz="2400" dirty="0"/>
              <a:t> </a:t>
            </a:r>
            <a:r>
              <a:rPr lang="en-US" sz="2400" dirty="0" err="1"/>
              <a:t>pengguna</a:t>
            </a:r>
            <a:r>
              <a:rPr lang="en-US" sz="2400" dirty="0"/>
              <a:t> </a:t>
            </a:r>
            <a:r>
              <a:rPr lang="en-US" sz="2400" dirty="0" err="1"/>
              <a:t>diolah</a:t>
            </a:r>
            <a:r>
              <a:rPr lang="en-US" sz="2400" dirty="0"/>
              <a:t>/</a:t>
            </a:r>
            <a:r>
              <a:rPr lang="en-US" sz="2400" dirty="0" err="1"/>
              <a:t>digabungkan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dua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input yang </a:t>
            </a:r>
            <a:r>
              <a:rPr lang="en-US" sz="2400" dirty="0" err="1"/>
              <a:t>berbeda</a:t>
            </a:r>
            <a:r>
              <a:rPr lang="en-US" sz="2400" dirty="0"/>
              <a:t>.</a:t>
            </a:r>
          </a:p>
          <a:p>
            <a:pPr lvl="1"/>
            <a:r>
              <a:rPr lang="en-US" sz="2400" dirty="0" err="1"/>
              <a:t>Contoh</a:t>
            </a:r>
            <a:r>
              <a:rPr lang="en-US" sz="2400" dirty="0"/>
              <a:t>: nama, </a:t>
            </a:r>
            <a:r>
              <a:rPr lang="en-US" sz="2400" dirty="0" err="1"/>
              <a:t>gabungan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nama </a:t>
            </a:r>
            <a:r>
              <a:rPr lang="en-US" sz="2400" dirty="0" err="1"/>
              <a:t>depan</a:t>
            </a:r>
            <a:r>
              <a:rPr lang="en-US" sz="2400" dirty="0"/>
              <a:t> dan nama </a:t>
            </a:r>
            <a:r>
              <a:rPr lang="en-US" sz="2400" dirty="0" err="1"/>
              <a:t>belakang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2229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4DA43-7702-29F4-52C6-D451D365B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284EC0-4E02-F439-FA96-0BEF245DD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8A2FA3-DC06-F1C7-A4E2-EE70121C5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Rekam</a:t>
            </a:r>
            <a:r>
              <a:rPr lang="en-US" sz="2400" dirty="0"/>
              <a:t> video yang </a:t>
            </a:r>
            <a:r>
              <a:rPr lang="en-US" sz="2400" dirty="0" err="1"/>
              <a:t>mendemokan</a:t>
            </a:r>
            <a:r>
              <a:rPr lang="en-US" sz="2400" dirty="0"/>
              <a:t> assignment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durasi</a:t>
            </a:r>
            <a:r>
              <a:rPr lang="en-US" sz="2400" dirty="0"/>
              <a:t> </a:t>
            </a:r>
            <a:r>
              <a:rPr lang="en-US" sz="2400" dirty="0" err="1"/>
              <a:t>maksimal</a:t>
            </a:r>
            <a:r>
              <a:rPr lang="en-US" sz="2400" dirty="0"/>
              <a:t> 60 </a:t>
            </a:r>
            <a:r>
              <a:rPr lang="en-US" sz="2400" dirty="0" err="1"/>
              <a:t>detik</a:t>
            </a:r>
            <a:r>
              <a:rPr lang="en-US" sz="2400" dirty="0"/>
              <a:t>.</a:t>
            </a:r>
          </a:p>
          <a:p>
            <a:r>
              <a:rPr lang="en-US" sz="2400" dirty="0"/>
              <a:t>Di </a:t>
            </a:r>
            <a:r>
              <a:rPr lang="en-US" sz="2400" dirty="0" err="1"/>
              <a:t>dalam</a:t>
            </a:r>
            <a:r>
              <a:rPr lang="en-US" sz="2400" dirty="0"/>
              <a:t> demo program yang </a:t>
            </a:r>
            <a:r>
              <a:rPr lang="en-US" sz="2400" dirty="0" err="1"/>
              <a:t>dibuat</a:t>
            </a:r>
            <a:r>
              <a:rPr lang="en-US" sz="2400" dirty="0"/>
              <a:t>, </a:t>
            </a:r>
            <a:r>
              <a:rPr lang="en-US" sz="2400" dirty="0" err="1"/>
              <a:t>tunjukkan</a:t>
            </a:r>
            <a:r>
              <a:rPr lang="en-US" sz="2400" dirty="0"/>
              <a:t> </a:t>
            </a:r>
            <a:r>
              <a:rPr lang="en-US" sz="2400" dirty="0" err="1"/>
              <a:t>bahwa</a:t>
            </a:r>
            <a:r>
              <a:rPr lang="en-US" sz="2400" dirty="0"/>
              <a:t> data </a:t>
            </a:r>
            <a:r>
              <a:rPr lang="en-US" sz="2400" dirty="0" err="1"/>
              <a:t>isian</a:t>
            </a:r>
            <a:r>
              <a:rPr lang="en-US" sz="2400" dirty="0"/>
              <a:t> yang </a:t>
            </a:r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dimasukkan</a:t>
            </a:r>
            <a:r>
              <a:rPr lang="en-US" sz="2400" dirty="0"/>
              <a:t> oleh </a:t>
            </a:r>
            <a:r>
              <a:rPr lang="en-US" sz="2400" dirty="0" err="1"/>
              <a:t>pengguna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hilang</a:t>
            </a:r>
            <a:r>
              <a:rPr lang="en-US" sz="2400" dirty="0"/>
              <a:t> </a:t>
            </a:r>
            <a:r>
              <a:rPr lang="en-US" sz="2400" dirty="0" err="1"/>
              <a:t>ketika</a:t>
            </a:r>
            <a:r>
              <a:rPr lang="en-US" sz="2400" dirty="0"/>
              <a:t> </a:t>
            </a:r>
            <a:r>
              <a:rPr lang="en-US" sz="2400" dirty="0" err="1"/>
              <a:t>orientasi</a:t>
            </a:r>
            <a:r>
              <a:rPr lang="en-US" sz="2400" dirty="0"/>
              <a:t> </a:t>
            </a:r>
            <a:r>
              <a:rPr lang="en-US" sz="2400" dirty="0" err="1"/>
              <a:t>layar</a:t>
            </a:r>
            <a:r>
              <a:rPr lang="en-US" sz="2400" dirty="0"/>
              <a:t> </a:t>
            </a:r>
            <a:r>
              <a:rPr lang="en-US" sz="2400" dirty="0" err="1"/>
              <a:t>berubah</a:t>
            </a:r>
            <a:r>
              <a:rPr lang="en-US" sz="2400" dirty="0"/>
              <a:t>.</a:t>
            </a:r>
          </a:p>
          <a:p>
            <a:r>
              <a:rPr lang="en-US" sz="2400" dirty="0"/>
              <a:t>Submit link video (di-upload di online storage, </a:t>
            </a:r>
            <a:r>
              <a:rPr lang="en-US" sz="2400" dirty="0" err="1"/>
              <a:t>seperti</a:t>
            </a:r>
            <a:r>
              <a:rPr lang="en-US" sz="2400" dirty="0"/>
              <a:t> Google Drive) </a:t>
            </a:r>
            <a:r>
              <a:rPr lang="en-US" sz="2400" b="1" dirty="0"/>
              <a:t>DAN</a:t>
            </a:r>
            <a:r>
              <a:rPr lang="en-US" sz="2400" dirty="0"/>
              <a:t> link source code </a:t>
            </a:r>
            <a:r>
              <a:rPr lang="en-US" sz="2400" dirty="0" err="1"/>
              <a:t>aplikasi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repository GitHub </a:t>
            </a:r>
            <a:r>
              <a:rPr lang="en-US" sz="2400" dirty="0" err="1"/>
              <a:t>melalui</a:t>
            </a:r>
            <a:r>
              <a:rPr lang="en-US" sz="2400" dirty="0"/>
              <a:t> Google Classroom assignment </a:t>
            </a:r>
            <a:r>
              <a:rPr lang="en-US" sz="2400" dirty="0" err="1"/>
              <a:t>ini</a:t>
            </a:r>
            <a:r>
              <a:rPr lang="en-US" sz="2400"/>
              <a:t>.</a:t>
            </a:r>
            <a:endParaRPr lang="en-US" sz="2400" dirty="0"/>
          </a:p>
          <a:p>
            <a:r>
              <a:rPr lang="en-US" sz="2400" dirty="0" err="1"/>
              <a:t>Tugas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bersifat</a:t>
            </a:r>
            <a:r>
              <a:rPr lang="en-US" sz="2400" dirty="0"/>
              <a:t> </a:t>
            </a:r>
            <a:r>
              <a:rPr lang="en-US" sz="2400" dirty="0" err="1"/>
              <a:t>perorangan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1762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General2025">
  <a:themeElements>
    <a:clrScheme name="Custo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3946B0"/>
      </a:hlink>
      <a:folHlink>
        <a:srgbClr val="9A0F9E"/>
      </a:folHlink>
    </a:clrScheme>
    <a:fontScheme name="Custom 2">
      <a:majorFont>
        <a:latin typeface="Noto Sans Condensed"/>
        <a:ea typeface=""/>
        <a:cs typeface=""/>
      </a:majorFont>
      <a:minorFont>
        <a:latin typeface="Source Sans 3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2025" id="{9A01DA90-C1CA-5D4D-8387-007B95E73C11}" vid="{DEC90951-6411-2F4D-B75D-E409EA3DD4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General2025</Template>
  <TotalTime>7560</TotalTime>
  <Words>2619</Words>
  <Application>Microsoft Macintosh PowerPoint</Application>
  <PresentationFormat>On-screen Show (4:3)</PresentationFormat>
  <Paragraphs>260</Paragraphs>
  <Slides>50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Fira Sans Extra Condensed SemiB</vt:lpstr>
      <vt:lpstr>Arial</vt:lpstr>
      <vt:lpstr>Calibri</vt:lpstr>
      <vt:lpstr>Noto Sans Condensed</vt:lpstr>
      <vt:lpstr>Noto Sans Condensed Medium Cond</vt:lpstr>
      <vt:lpstr>Noto Sans Condensed Medium Condensed</vt:lpstr>
      <vt:lpstr>Noto Sans Mono</vt:lpstr>
      <vt:lpstr>Noto Sans Mono Condensed Condensed</vt:lpstr>
      <vt:lpstr>Source Sans 3</vt:lpstr>
      <vt:lpstr>General2025</vt:lpstr>
      <vt:lpstr>State, rememberSaveable, and ViewModel</vt:lpstr>
      <vt:lpstr>State</vt:lpstr>
      <vt:lpstr>State</vt:lpstr>
      <vt:lpstr>State and Composition</vt:lpstr>
      <vt:lpstr>PowerPoint Presentation</vt:lpstr>
      <vt:lpstr>State in Composable</vt:lpstr>
      <vt:lpstr>MutableState&lt;T&gt;</vt:lpstr>
      <vt:lpstr>Declare a MutableState object</vt:lpstr>
      <vt:lpstr>Using by Delegate</vt:lpstr>
      <vt:lpstr>PowerPoint Presentation</vt:lpstr>
      <vt:lpstr>PowerPoint Presentation</vt:lpstr>
      <vt:lpstr>rememberSaveable</vt:lpstr>
      <vt:lpstr>Saver</vt:lpstr>
      <vt:lpstr>Saver Example</vt:lpstr>
      <vt:lpstr>Stateful vs Stateless</vt:lpstr>
      <vt:lpstr>Stateful vs Stateless</vt:lpstr>
      <vt:lpstr>State Hoisting</vt:lpstr>
      <vt:lpstr>State Hoisting</vt:lpstr>
      <vt:lpstr>PowerPoint Presentation</vt:lpstr>
      <vt:lpstr>PowerPoint Presentation</vt:lpstr>
      <vt:lpstr>App Architecture and ViewModel</vt:lpstr>
      <vt:lpstr>Separations of Concerns</vt:lpstr>
      <vt:lpstr>Recommended App Architecture</vt:lpstr>
      <vt:lpstr>UI Layer</vt:lpstr>
      <vt:lpstr>UI Layer</vt:lpstr>
      <vt:lpstr>ViewModel</vt:lpstr>
      <vt:lpstr>ViewModel</vt:lpstr>
      <vt:lpstr>UI State</vt:lpstr>
      <vt:lpstr>Add a ViewModel</vt:lpstr>
      <vt:lpstr>Add a ViewModel</vt:lpstr>
      <vt:lpstr>Add a Model Data Class</vt:lpstr>
      <vt:lpstr>StateFlow</vt:lpstr>
      <vt:lpstr>Backing Property</vt:lpstr>
      <vt:lpstr>Backing Property Example</vt:lpstr>
      <vt:lpstr>Adding StateFlow in ViewModel</vt:lpstr>
      <vt:lpstr>Adding init() and reset() Function</vt:lpstr>
      <vt:lpstr>Adding addCounter() Function</vt:lpstr>
      <vt:lpstr>Architecting Compose UI</vt:lpstr>
      <vt:lpstr>Architecting Compose UI</vt:lpstr>
      <vt:lpstr>Unidirectional Data Flow</vt:lpstr>
      <vt:lpstr>Unidirectional Data Flow</vt:lpstr>
      <vt:lpstr>UDF Implications</vt:lpstr>
      <vt:lpstr>Passing Data</vt:lpstr>
      <vt:lpstr>Passing Data</vt:lpstr>
      <vt:lpstr>Passing Event  to ViewModel</vt:lpstr>
      <vt:lpstr>PowerPoint Presentation</vt:lpstr>
      <vt:lpstr>Questions?</vt:lpstr>
      <vt:lpstr>Assignments</vt:lpstr>
      <vt:lpstr>Assignment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Aryo Pinandito</dc:creator>
  <cp:lastModifiedBy>Aryo Pinandito</cp:lastModifiedBy>
  <cp:revision>1064</cp:revision>
  <dcterms:created xsi:type="dcterms:W3CDTF">2022-08-27T01:06:53Z</dcterms:created>
  <dcterms:modified xsi:type="dcterms:W3CDTF">2025-10-29T02:20:19Z</dcterms:modified>
</cp:coreProperties>
</file>